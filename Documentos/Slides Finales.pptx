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Alata" charset="1" panose="00000500000000000000"/>
      <p:regular r:id="rId35"/>
    </p:embeddedFont>
    <p:embeddedFont>
      <p:font typeface="Source Serif Pro" charset="1" panose="02040603050405020204"/>
      <p:regular r:id="rId36"/>
    </p:embeddedFont>
    <p:embeddedFont>
      <p:font typeface="Yeseva One" charset="1" panose="00000500000000000000"/>
      <p:regular r:id="rId37"/>
    </p:embeddedFont>
    <p:embeddedFont>
      <p:font typeface="Open Sans Italics" charset="1" panose="020B0606030504020204"/>
      <p:regular r:id="rId38"/>
    </p:embeddedFont>
    <p:embeddedFont>
      <p:font typeface="Open Sans Bold Italics" charset="1" panose="020B0806030504020204"/>
      <p:regular r:id="rId39"/>
    </p:embeddedFont>
    <p:embeddedFont>
      <p:font typeface="Source Serif Pro Bold" charset="1" panose="02040803050405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2" Target="../media/image1.png" Type="http://schemas.openxmlformats.org/officeDocument/2006/relationships/image"/><Relationship Id="rId3" Target="../media/image15.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 Id="rId4" Target="../media/image2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jpeg" Type="http://schemas.openxmlformats.org/officeDocument/2006/relationships/image"/><Relationship Id="rId4" Target="../media/image3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VAHKPDIAr_s.mp4" Type="http://schemas.openxmlformats.org/officeDocument/2006/relationships/video"/><Relationship Id="rId4" Target="../media/VAHKPDIAr_s.mp4" Type="http://schemas.microsoft.com/office/2007/relationships/media"/><Relationship Id="rId5" Target="../media/image32.png" Type="http://schemas.openxmlformats.org/officeDocument/2006/relationships/image"/><Relationship Id="rId6"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VAHKPKHz5BY.mp4" Type="http://schemas.openxmlformats.org/officeDocument/2006/relationships/video"/><Relationship Id="rId4" Target="../media/VAHKPKHz5BY.mp4" Type="http://schemas.microsoft.com/office/2007/relationships/media"/><Relationship Id="rId5" Target="../media/image35.png" Type="http://schemas.openxmlformats.org/officeDocument/2006/relationships/image"/><Relationship Id="rId6"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7146661" y="0"/>
            <a:ext cx="8102028" cy="10287000"/>
            <a:chOff x="0" y="0"/>
            <a:chExt cx="1740765" cy="2210219"/>
          </a:xfrm>
        </p:grpSpPr>
        <p:sp>
          <p:nvSpPr>
            <p:cNvPr name="Freeform 3" id="3"/>
            <p:cNvSpPr/>
            <p:nvPr/>
          </p:nvSpPr>
          <p:spPr>
            <a:xfrm flipH="false" flipV="false" rot="0">
              <a:off x="0" y="0"/>
              <a:ext cx="1740765" cy="2210219"/>
            </a:xfrm>
            <a:custGeom>
              <a:avLst/>
              <a:gdLst/>
              <a:ahLst/>
              <a:cxnLst/>
              <a:rect r="r" b="b" t="t" l="l"/>
              <a:pathLst>
                <a:path h="2210219" w="1740765">
                  <a:moveTo>
                    <a:pt x="0" y="0"/>
                  </a:moveTo>
                  <a:lnTo>
                    <a:pt x="1740765" y="0"/>
                  </a:lnTo>
                  <a:lnTo>
                    <a:pt x="1740765" y="2210219"/>
                  </a:lnTo>
                  <a:lnTo>
                    <a:pt x="0" y="2210219"/>
                  </a:lnTo>
                  <a:close/>
                </a:path>
              </a:pathLst>
            </a:custGeom>
            <a:solidFill>
              <a:srgbClr val="4A5759"/>
            </a:solidFill>
          </p:spPr>
        </p:sp>
      </p:grpSp>
      <p:sp>
        <p:nvSpPr>
          <p:cNvPr name="Freeform 4" id="4"/>
          <p:cNvSpPr/>
          <p:nvPr/>
        </p:nvSpPr>
        <p:spPr>
          <a:xfrm flipH="false" flipV="false" rot="0">
            <a:off x="15584426" y="8332091"/>
            <a:ext cx="1890222" cy="926209"/>
          </a:xfrm>
          <a:custGeom>
            <a:avLst/>
            <a:gdLst/>
            <a:ahLst/>
            <a:cxnLst/>
            <a:rect r="r" b="b" t="t" l="l"/>
            <a:pathLst>
              <a:path h="926209" w="1890222">
                <a:moveTo>
                  <a:pt x="0" y="0"/>
                </a:moveTo>
                <a:lnTo>
                  <a:pt x="1890222" y="0"/>
                </a:lnTo>
                <a:lnTo>
                  <a:pt x="1890222" y="926209"/>
                </a:lnTo>
                <a:lnTo>
                  <a:pt x="0" y="926209"/>
                </a:lnTo>
                <a:lnTo>
                  <a:pt x="0" y="0"/>
                </a:lnTo>
                <a:close/>
              </a:path>
            </a:pathLst>
          </a:custGeom>
          <a:blipFill>
            <a:blip r:embed="rId2"/>
            <a:stretch>
              <a:fillRect l="0" t="0" r="0" b="0"/>
            </a:stretch>
          </a:blipFill>
        </p:spPr>
      </p:sp>
      <p:sp>
        <p:nvSpPr>
          <p:cNvPr name="Freeform 5" id="5"/>
          <p:cNvSpPr/>
          <p:nvPr/>
        </p:nvSpPr>
        <p:spPr>
          <a:xfrm flipH="false" flipV="false" rot="0">
            <a:off x="-309876" y="4274"/>
            <a:ext cx="7458002" cy="11173037"/>
          </a:xfrm>
          <a:custGeom>
            <a:avLst/>
            <a:gdLst/>
            <a:ahLst/>
            <a:cxnLst/>
            <a:rect r="r" b="b" t="t" l="l"/>
            <a:pathLst>
              <a:path h="11173037" w="7458002">
                <a:moveTo>
                  <a:pt x="0" y="0"/>
                </a:moveTo>
                <a:lnTo>
                  <a:pt x="7458002" y="0"/>
                </a:lnTo>
                <a:lnTo>
                  <a:pt x="7458002" y="11173037"/>
                </a:lnTo>
                <a:lnTo>
                  <a:pt x="0" y="11173037"/>
                </a:lnTo>
                <a:lnTo>
                  <a:pt x="0" y="0"/>
                </a:lnTo>
                <a:close/>
              </a:path>
            </a:pathLst>
          </a:custGeom>
          <a:blipFill>
            <a:blip r:embed="rId3"/>
            <a:stretch>
              <a:fillRect l="0" t="0" r="0" b="0"/>
            </a:stretch>
          </a:blipFill>
        </p:spPr>
      </p:sp>
      <p:sp>
        <p:nvSpPr>
          <p:cNvPr name="TextBox 6" id="6"/>
          <p:cNvSpPr txBox="true"/>
          <p:nvPr/>
        </p:nvSpPr>
        <p:spPr>
          <a:xfrm rot="0">
            <a:off x="8402291" y="2502171"/>
            <a:ext cx="9072358" cy="2719728"/>
          </a:xfrm>
          <a:prstGeom prst="rect">
            <a:avLst/>
          </a:prstGeom>
        </p:spPr>
        <p:txBody>
          <a:bodyPr anchor="t" rtlCol="false" tIns="0" lIns="0" bIns="0" rIns="0">
            <a:spAutoFit/>
          </a:bodyPr>
          <a:lstStyle/>
          <a:p>
            <a:pPr algn="ctr">
              <a:lnSpc>
                <a:spcPts val="4258"/>
              </a:lnSpc>
            </a:pPr>
            <a:r>
              <a:rPr lang="en-US" sz="4894">
                <a:solidFill>
                  <a:srgbClr val="4A5759"/>
                </a:solidFill>
                <a:latin typeface="Alata"/>
                <a:ea typeface="Alata"/>
                <a:cs typeface="Alata"/>
                <a:sym typeface="Alata"/>
              </a:rPr>
              <a:t>ESTUDIO DEL EFECTO DE LA ELECCIÓN DEL SISTEMA DE REFERENCIA EN EL MODELADO DE UN PÉNDULO CON SOPORTE MOVIL</a:t>
            </a:r>
          </a:p>
        </p:txBody>
      </p:sp>
      <p:sp>
        <p:nvSpPr>
          <p:cNvPr name="TextBox 7" id="7"/>
          <p:cNvSpPr txBox="true"/>
          <p:nvPr/>
        </p:nvSpPr>
        <p:spPr>
          <a:xfrm rot="0">
            <a:off x="7240444" y="5524118"/>
            <a:ext cx="10421212" cy="1268363"/>
          </a:xfrm>
          <a:prstGeom prst="rect">
            <a:avLst/>
          </a:prstGeom>
        </p:spPr>
        <p:txBody>
          <a:bodyPr anchor="t" rtlCol="false" tIns="0" lIns="0" bIns="0" rIns="0">
            <a:spAutoFit/>
          </a:bodyPr>
          <a:lstStyle/>
          <a:p>
            <a:pPr algn="ctr">
              <a:lnSpc>
                <a:spcPts val="5165"/>
              </a:lnSpc>
              <a:spcBef>
                <a:spcPct val="0"/>
              </a:spcBef>
            </a:pPr>
            <a:r>
              <a:rPr lang="en-US" sz="3689">
                <a:solidFill>
                  <a:srgbClr val="4A5759"/>
                </a:solidFill>
                <a:latin typeface="Source Serif Pro"/>
                <a:ea typeface="Source Serif Pro"/>
                <a:cs typeface="Source Serif Pro"/>
                <a:sym typeface="Source Serif Pro"/>
              </a:rPr>
              <a:t>Sergio André</a:t>
            </a:r>
            <a:r>
              <a:rPr lang="en-US" sz="3689">
                <a:solidFill>
                  <a:srgbClr val="4A5759"/>
                </a:solidFill>
                <a:latin typeface="Source Serif Pro"/>
                <a:ea typeface="Source Serif Pro"/>
                <a:cs typeface="Source Serif Pro"/>
                <a:sym typeface="Source Serif Pro"/>
              </a:rPr>
              <a:t>s Fajardo Reyes - 2230661</a:t>
            </a:r>
          </a:p>
          <a:p>
            <a:pPr algn="ctr">
              <a:lnSpc>
                <a:spcPts val="5165"/>
              </a:lnSpc>
              <a:spcBef>
                <a:spcPct val="0"/>
              </a:spcBef>
            </a:pPr>
            <a:r>
              <a:rPr lang="en-US" sz="3689">
                <a:solidFill>
                  <a:srgbClr val="4A5759"/>
                </a:solidFill>
                <a:latin typeface="Source Serif Pro"/>
                <a:ea typeface="Source Serif Pro"/>
                <a:cs typeface="Source Serif Pro"/>
                <a:sym typeface="Source Serif Pro"/>
              </a:rPr>
              <a:t>Deiner Samuel Duran Cáceres - 2230673</a:t>
            </a:r>
          </a:p>
        </p:txBody>
      </p:sp>
      <p:sp>
        <p:nvSpPr>
          <p:cNvPr name="TextBox 8" id="8"/>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000000"/>
                </a:solidFill>
                <a:latin typeface="Source Serif Pro"/>
                <a:ea typeface="Source Serif Pro"/>
                <a:cs typeface="Source Serif Pro"/>
                <a:sym typeface="Source Serif Pro"/>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A575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165554"/>
            <a:ext cx="7914407" cy="5955893"/>
          </a:xfrm>
          <a:custGeom>
            <a:avLst/>
            <a:gdLst/>
            <a:ahLst/>
            <a:cxnLst/>
            <a:rect r="r" b="b" t="t" l="l"/>
            <a:pathLst>
              <a:path h="5955893" w="7914407">
                <a:moveTo>
                  <a:pt x="0" y="0"/>
                </a:moveTo>
                <a:lnTo>
                  <a:pt x="7914407" y="0"/>
                </a:lnTo>
                <a:lnTo>
                  <a:pt x="7914407" y="5955892"/>
                </a:lnTo>
                <a:lnTo>
                  <a:pt x="0" y="5955892"/>
                </a:lnTo>
                <a:lnTo>
                  <a:pt x="0" y="0"/>
                </a:lnTo>
                <a:close/>
              </a:path>
            </a:pathLst>
          </a:custGeom>
          <a:blipFill>
            <a:blip r:embed="rId2"/>
            <a:stretch>
              <a:fillRect l="0" t="0" r="0" b="0"/>
            </a:stretch>
          </a:blipFill>
        </p:spPr>
      </p:sp>
      <p:sp>
        <p:nvSpPr>
          <p:cNvPr name="Freeform 3" id="3"/>
          <p:cNvSpPr/>
          <p:nvPr/>
        </p:nvSpPr>
        <p:spPr>
          <a:xfrm flipH="false" flipV="false" rot="0">
            <a:off x="9144000" y="2208283"/>
            <a:ext cx="8255726" cy="5913164"/>
          </a:xfrm>
          <a:custGeom>
            <a:avLst/>
            <a:gdLst/>
            <a:ahLst/>
            <a:cxnLst/>
            <a:rect r="r" b="b" t="t" l="l"/>
            <a:pathLst>
              <a:path h="5913164" w="8255726">
                <a:moveTo>
                  <a:pt x="0" y="0"/>
                </a:moveTo>
                <a:lnTo>
                  <a:pt x="8255726" y="0"/>
                </a:lnTo>
                <a:lnTo>
                  <a:pt x="8255726" y="5913163"/>
                </a:lnTo>
                <a:lnTo>
                  <a:pt x="0" y="5913163"/>
                </a:lnTo>
                <a:lnTo>
                  <a:pt x="0" y="0"/>
                </a:lnTo>
                <a:close/>
              </a:path>
            </a:pathLst>
          </a:custGeom>
          <a:blipFill>
            <a:blip r:embed="rId3"/>
            <a:stretch>
              <a:fillRect l="0" t="0" r="0" b="0"/>
            </a:stretch>
          </a:blipFill>
        </p:spPr>
      </p:sp>
      <p:sp>
        <p:nvSpPr>
          <p:cNvPr name="TextBox 4" id="4"/>
          <p:cNvSpPr txBox="true"/>
          <p:nvPr/>
        </p:nvSpPr>
        <p:spPr>
          <a:xfrm rot="0">
            <a:off x="1028700" y="750299"/>
            <a:ext cx="10353776" cy="873125"/>
          </a:xfrm>
          <a:prstGeom prst="rect">
            <a:avLst/>
          </a:prstGeom>
        </p:spPr>
        <p:txBody>
          <a:bodyPr anchor="t" rtlCol="false" tIns="0" lIns="0" bIns="0" rIns="0">
            <a:spAutoFit/>
          </a:bodyPr>
          <a:lstStyle/>
          <a:p>
            <a:pPr algn="l">
              <a:lnSpc>
                <a:spcPts val="7000"/>
              </a:lnSpc>
            </a:pPr>
            <a:r>
              <a:rPr lang="en-US" sz="5000">
                <a:solidFill>
                  <a:srgbClr val="FFFDF8"/>
                </a:solidFill>
                <a:latin typeface="Yeseva One"/>
                <a:ea typeface="Yeseva One"/>
                <a:cs typeface="Yeseva One"/>
                <a:sym typeface="Yeseva One"/>
              </a:rPr>
              <a:t>INTRODUCCIÓN:</a:t>
            </a:r>
          </a:p>
        </p:txBody>
      </p:sp>
      <p:sp>
        <p:nvSpPr>
          <p:cNvPr name="Freeform 5" id="5"/>
          <p:cNvSpPr/>
          <p:nvPr/>
        </p:nvSpPr>
        <p:spPr>
          <a:xfrm flipH="false" flipV="false" rot="0">
            <a:off x="1028700" y="8597789"/>
            <a:ext cx="2057687" cy="1008267"/>
          </a:xfrm>
          <a:custGeom>
            <a:avLst/>
            <a:gdLst/>
            <a:ahLst/>
            <a:cxnLst/>
            <a:rect r="r" b="b" t="t" l="l"/>
            <a:pathLst>
              <a:path h="1008267" w="2057687">
                <a:moveTo>
                  <a:pt x="0" y="0"/>
                </a:moveTo>
                <a:lnTo>
                  <a:pt x="2057687" y="0"/>
                </a:lnTo>
                <a:lnTo>
                  <a:pt x="2057687" y="1008267"/>
                </a:lnTo>
                <a:lnTo>
                  <a:pt x="0" y="1008267"/>
                </a:lnTo>
                <a:lnTo>
                  <a:pt x="0" y="0"/>
                </a:lnTo>
                <a:close/>
              </a:path>
            </a:pathLst>
          </a:custGeom>
          <a:blipFill>
            <a:blip r:embed="rId4"/>
            <a:stretch>
              <a:fillRect l="0" t="0" r="0" b="0"/>
            </a:stretch>
          </a:blipFill>
        </p:spPr>
      </p:sp>
      <p:sp>
        <p:nvSpPr>
          <p:cNvPr name="AutoShape 6" id="6"/>
          <p:cNvSpPr/>
          <p:nvPr/>
        </p:nvSpPr>
        <p:spPr>
          <a:xfrm flipV="true">
            <a:off x="1028777" y="1611517"/>
            <a:ext cx="7339470" cy="23812"/>
          </a:xfrm>
          <a:prstGeom prst="line">
            <a:avLst/>
          </a:prstGeom>
          <a:ln cap="rnd" w="47625">
            <a:solidFill>
              <a:srgbClr val="ECBE70"/>
            </a:solidFill>
            <a:prstDash val="solid"/>
            <a:headEnd type="none" len="sm" w="sm"/>
            <a:tailEnd type="none" len="sm" w="sm"/>
          </a:ln>
        </p:spPr>
      </p:sp>
      <p:sp>
        <p:nvSpPr>
          <p:cNvPr name="TextBox 7" id="7"/>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1924164" y="2724673"/>
            <a:ext cx="5933637" cy="3476102"/>
          </a:xfrm>
          <a:custGeom>
            <a:avLst/>
            <a:gdLst/>
            <a:ahLst/>
            <a:cxnLst/>
            <a:rect r="r" b="b" t="t" l="l"/>
            <a:pathLst>
              <a:path h="3476102" w="5933637">
                <a:moveTo>
                  <a:pt x="0" y="0"/>
                </a:moveTo>
                <a:lnTo>
                  <a:pt x="5933637" y="0"/>
                </a:lnTo>
                <a:lnTo>
                  <a:pt x="5933637" y="3476102"/>
                </a:lnTo>
                <a:lnTo>
                  <a:pt x="0" y="3476102"/>
                </a:lnTo>
                <a:lnTo>
                  <a:pt x="0" y="0"/>
                </a:lnTo>
                <a:close/>
              </a:path>
            </a:pathLst>
          </a:custGeom>
          <a:blipFill>
            <a:blip r:embed="rId2"/>
            <a:stretch>
              <a:fillRect l="-6176" t="-3012" r="-1176" b="0"/>
            </a:stretch>
          </a:blipFill>
        </p:spPr>
      </p:sp>
      <p:sp>
        <p:nvSpPr>
          <p:cNvPr name="Freeform 3" id="3"/>
          <p:cNvSpPr/>
          <p:nvPr/>
        </p:nvSpPr>
        <p:spPr>
          <a:xfrm flipH="false" flipV="false" rot="0">
            <a:off x="1028700" y="8597789"/>
            <a:ext cx="2057687" cy="1008267"/>
          </a:xfrm>
          <a:custGeom>
            <a:avLst/>
            <a:gdLst/>
            <a:ahLst/>
            <a:cxnLst/>
            <a:rect r="r" b="b" t="t" l="l"/>
            <a:pathLst>
              <a:path h="1008267" w="2057687">
                <a:moveTo>
                  <a:pt x="0" y="0"/>
                </a:moveTo>
                <a:lnTo>
                  <a:pt x="2057687" y="0"/>
                </a:lnTo>
                <a:lnTo>
                  <a:pt x="2057687" y="1008267"/>
                </a:lnTo>
                <a:lnTo>
                  <a:pt x="0" y="1008267"/>
                </a:lnTo>
                <a:lnTo>
                  <a:pt x="0" y="0"/>
                </a:lnTo>
                <a:close/>
              </a:path>
            </a:pathLst>
          </a:custGeom>
          <a:blipFill>
            <a:blip r:embed="rId3"/>
            <a:stretch>
              <a:fillRect l="0" t="0" r="0" b="0"/>
            </a:stretch>
          </a:blipFill>
        </p:spPr>
      </p:sp>
      <p:sp>
        <p:nvSpPr>
          <p:cNvPr name="Freeform 4" id="4"/>
          <p:cNvSpPr/>
          <p:nvPr/>
        </p:nvSpPr>
        <p:spPr>
          <a:xfrm flipH="false" flipV="false" rot="0">
            <a:off x="10227505" y="2724673"/>
            <a:ext cx="6060161" cy="3469442"/>
          </a:xfrm>
          <a:custGeom>
            <a:avLst/>
            <a:gdLst/>
            <a:ahLst/>
            <a:cxnLst/>
            <a:rect r="r" b="b" t="t" l="l"/>
            <a:pathLst>
              <a:path h="3469442" w="6060161">
                <a:moveTo>
                  <a:pt x="0" y="0"/>
                </a:moveTo>
                <a:lnTo>
                  <a:pt x="6060160" y="0"/>
                </a:lnTo>
                <a:lnTo>
                  <a:pt x="6060160" y="3469442"/>
                </a:lnTo>
                <a:lnTo>
                  <a:pt x="0" y="3469442"/>
                </a:lnTo>
                <a:lnTo>
                  <a:pt x="0" y="0"/>
                </a:lnTo>
                <a:close/>
              </a:path>
            </a:pathLst>
          </a:custGeom>
          <a:blipFill>
            <a:blip r:embed="rId4"/>
            <a:stretch>
              <a:fillRect l="0" t="0" r="0" b="0"/>
            </a:stretch>
          </a:blipFill>
        </p:spPr>
      </p:sp>
      <p:sp>
        <p:nvSpPr>
          <p:cNvPr name="TextBox 5" id="5"/>
          <p:cNvSpPr txBox="true"/>
          <p:nvPr/>
        </p:nvSpPr>
        <p:spPr>
          <a:xfrm rot="0">
            <a:off x="1028700" y="750299"/>
            <a:ext cx="10353776" cy="873125"/>
          </a:xfrm>
          <a:prstGeom prst="rect">
            <a:avLst/>
          </a:prstGeom>
        </p:spPr>
        <p:txBody>
          <a:bodyPr anchor="t" rtlCol="false" tIns="0" lIns="0" bIns="0" rIns="0">
            <a:spAutoFit/>
          </a:bodyPr>
          <a:lstStyle/>
          <a:p>
            <a:pPr algn="l">
              <a:lnSpc>
                <a:spcPts val="7000"/>
              </a:lnSpc>
            </a:pPr>
            <a:r>
              <a:rPr lang="en-US" sz="5000">
                <a:solidFill>
                  <a:srgbClr val="000000"/>
                </a:solidFill>
                <a:latin typeface="Yeseva One"/>
                <a:ea typeface="Yeseva One"/>
                <a:cs typeface="Yeseva One"/>
                <a:sym typeface="Yeseva One"/>
              </a:rPr>
              <a:t>FENÓMENO FÍSICO:</a:t>
            </a:r>
          </a:p>
        </p:txBody>
      </p:sp>
      <p:sp>
        <p:nvSpPr>
          <p:cNvPr name="TextBox 6" id="6"/>
          <p:cNvSpPr txBox="true"/>
          <p:nvPr/>
        </p:nvSpPr>
        <p:spPr>
          <a:xfrm rot="0">
            <a:off x="5605200" y="7052769"/>
            <a:ext cx="7605593" cy="1012190"/>
          </a:xfrm>
          <a:prstGeom prst="rect">
            <a:avLst/>
          </a:prstGeom>
        </p:spPr>
        <p:txBody>
          <a:bodyPr anchor="t" rtlCol="false" tIns="0" lIns="0" bIns="0" rIns="0">
            <a:spAutoFit/>
          </a:bodyPr>
          <a:lstStyle/>
          <a:p>
            <a:pPr algn="ctr">
              <a:lnSpc>
                <a:spcPts val="4060"/>
              </a:lnSpc>
            </a:pPr>
            <a:r>
              <a:rPr lang="en-US" sz="2900" i="true">
                <a:solidFill>
                  <a:srgbClr val="000000"/>
                </a:solidFill>
                <a:latin typeface="Open Sans Italics"/>
                <a:ea typeface="Open Sans Italics"/>
                <a:cs typeface="Open Sans Italics"/>
                <a:sym typeface="Open Sans Italics"/>
              </a:rPr>
              <a:t>¿El observador no inercial mide una fuerza </a:t>
            </a:r>
          </a:p>
          <a:p>
            <a:pPr algn="ctr">
              <a:lnSpc>
                <a:spcPts val="4060"/>
              </a:lnSpc>
            </a:pPr>
            <a:r>
              <a:rPr lang="en-US" sz="2900" i="true">
                <a:solidFill>
                  <a:srgbClr val="000000"/>
                </a:solidFill>
                <a:latin typeface="Open Sans Italics"/>
                <a:ea typeface="Open Sans Italics"/>
                <a:cs typeface="Open Sans Italics"/>
                <a:sym typeface="Open Sans Italics"/>
              </a:rPr>
              <a:t>diferente de la que mide el observador inercia?</a:t>
            </a:r>
          </a:p>
        </p:txBody>
      </p:sp>
      <p:sp>
        <p:nvSpPr>
          <p:cNvPr name="TextBox 7" id="7"/>
          <p:cNvSpPr txBox="true"/>
          <p:nvPr/>
        </p:nvSpPr>
        <p:spPr>
          <a:xfrm rot="0">
            <a:off x="2450022" y="6136965"/>
            <a:ext cx="4881920" cy="481330"/>
          </a:xfrm>
          <a:prstGeom prst="rect">
            <a:avLst/>
          </a:prstGeom>
        </p:spPr>
        <p:txBody>
          <a:bodyPr anchor="t" rtlCol="false" tIns="0" lIns="0" bIns="0" rIns="0">
            <a:spAutoFit/>
          </a:bodyPr>
          <a:lstStyle/>
          <a:p>
            <a:pPr algn="ctr">
              <a:lnSpc>
                <a:spcPts val="3920"/>
              </a:lnSpc>
            </a:pPr>
            <a:r>
              <a:rPr lang="en-US" sz="2800" i="true">
                <a:solidFill>
                  <a:srgbClr val="000000"/>
                </a:solidFill>
                <a:latin typeface="Open Sans Italics"/>
                <a:ea typeface="Open Sans Italics"/>
                <a:cs typeface="Open Sans Italics"/>
                <a:sym typeface="Open Sans Italics"/>
              </a:rPr>
              <a:t>Marco de referencia no inercial</a:t>
            </a:r>
          </a:p>
        </p:txBody>
      </p:sp>
      <p:sp>
        <p:nvSpPr>
          <p:cNvPr name="TextBox 8" id="8"/>
          <p:cNvSpPr txBox="true"/>
          <p:nvPr/>
        </p:nvSpPr>
        <p:spPr>
          <a:xfrm rot="0">
            <a:off x="11065168" y="6143625"/>
            <a:ext cx="4384834" cy="481330"/>
          </a:xfrm>
          <a:prstGeom prst="rect">
            <a:avLst/>
          </a:prstGeom>
        </p:spPr>
        <p:txBody>
          <a:bodyPr anchor="t" rtlCol="false" tIns="0" lIns="0" bIns="0" rIns="0">
            <a:spAutoFit/>
          </a:bodyPr>
          <a:lstStyle/>
          <a:p>
            <a:pPr algn="ctr">
              <a:lnSpc>
                <a:spcPts val="3920"/>
              </a:lnSpc>
            </a:pPr>
            <a:r>
              <a:rPr lang="en-US" sz="2800" i="true">
                <a:solidFill>
                  <a:srgbClr val="000000"/>
                </a:solidFill>
                <a:latin typeface="Open Sans Italics"/>
                <a:ea typeface="Open Sans Italics"/>
                <a:cs typeface="Open Sans Italics"/>
                <a:sym typeface="Open Sans Italics"/>
              </a:rPr>
              <a:t>Marco de referencia inercial</a:t>
            </a:r>
          </a:p>
        </p:txBody>
      </p:sp>
      <p:sp>
        <p:nvSpPr>
          <p:cNvPr name="AutoShape 9" id="9"/>
          <p:cNvSpPr/>
          <p:nvPr/>
        </p:nvSpPr>
        <p:spPr>
          <a:xfrm flipV="true">
            <a:off x="1028777" y="1772173"/>
            <a:ext cx="7339470" cy="23812"/>
          </a:xfrm>
          <a:prstGeom prst="line">
            <a:avLst/>
          </a:prstGeom>
          <a:ln cap="rnd" w="47625">
            <a:solidFill>
              <a:srgbClr val="ECBE70"/>
            </a:solidFill>
            <a:prstDash val="solid"/>
            <a:headEnd type="none" len="sm" w="sm"/>
            <a:tailEnd type="none" len="sm" w="sm"/>
          </a:ln>
        </p:spPr>
      </p:sp>
      <p:sp>
        <p:nvSpPr>
          <p:cNvPr name="TextBox 10" id="10"/>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000000"/>
                </a:solidFill>
                <a:latin typeface="Source Serif Pro"/>
                <a:ea typeface="Source Serif Pro"/>
                <a:cs typeface="Source Serif Pro"/>
                <a:sym typeface="Source Serif Pro"/>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7776554" y="325774"/>
            <a:ext cx="11225085" cy="779811"/>
          </a:xfrm>
          <a:prstGeom prst="rect">
            <a:avLst/>
          </a:prstGeom>
        </p:spPr>
        <p:txBody>
          <a:bodyPr anchor="t" rtlCol="false" tIns="0" lIns="0" bIns="0" rIns="0">
            <a:spAutoFit/>
          </a:bodyPr>
          <a:lstStyle/>
          <a:p>
            <a:pPr algn="ctr">
              <a:lnSpc>
                <a:spcPts val="6368"/>
              </a:lnSpc>
              <a:spcBef>
                <a:spcPct val="0"/>
              </a:spcBef>
            </a:pPr>
            <a:r>
              <a:rPr lang="en-US" sz="4548">
                <a:solidFill>
                  <a:srgbClr val="4A5759"/>
                </a:solidFill>
                <a:latin typeface="Yeseva One"/>
                <a:ea typeface="Yeseva One"/>
                <a:cs typeface="Yeseva One"/>
                <a:sym typeface="Yeseva One"/>
              </a:rPr>
              <a:t>Objetivo general</a:t>
            </a:r>
          </a:p>
        </p:txBody>
      </p:sp>
      <p:sp>
        <p:nvSpPr>
          <p:cNvPr name="AutoShape 3" id="3"/>
          <p:cNvSpPr/>
          <p:nvPr/>
        </p:nvSpPr>
        <p:spPr>
          <a:xfrm>
            <a:off x="9788730" y="1105585"/>
            <a:ext cx="7875454" cy="0"/>
          </a:xfrm>
          <a:prstGeom prst="line">
            <a:avLst/>
          </a:prstGeom>
          <a:ln cap="rnd" w="47625">
            <a:solidFill>
              <a:srgbClr val="ECBE70"/>
            </a:solidFill>
            <a:prstDash val="solid"/>
            <a:headEnd type="none" len="sm" w="sm"/>
            <a:tailEnd type="none" len="sm" w="sm"/>
          </a:ln>
        </p:spPr>
      </p:sp>
      <p:grpSp>
        <p:nvGrpSpPr>
          <p:cNvPr name="Group 4" id="4"/>
          <p:cNvGrpSpPr/>
          <p:nvPr/>
        </p:nvGrpSpPr>
        <p:grpSpPr>
          <a:xfrm rot="0">
            <a:off x="9144000" y="1494314"/>
            <a:ext cx="8520184" cy="2936251"/>
            <a:chOff x="0" y="0"/>
            <a:chExt cx="1980775" cy="682621"/>
          </a:xfrm>
        </p:grpSpPr>
        <p:sp>
          <p:nvSpPr>
            <p:cNvPr name="Freeform 5" id="5"/>
            <p:cNvSpPr/>
            <p:nvPr/>
          </p:nvSpPr>
          <p:spPr>
            <a:xfrm flipH="false" flipV="false" rot="0">
              <a:off x="0" y="0"/>
              <a:ext cx="1980775" cy="682621"/>
            </a:xfrm>
            <a:custGeom>
              <a:avLst/>
              <a:gdLst/>
              <a:ahLst/>
              <a:cxnLst/>
              <a:rect r="r" b="b" t="t" l="l"/>
              <a:pathLst>
                <a:path h="682621" w="1980775">
                  <a:moveTo>
                    <a:pt x="46341" y="0"/>
                  </a:moveTo>
                  <a:lnTo>
                    <a:pt x="1934433" y="0"/>
                  </a:lnTo>
                  <a:cubicBezTo>
                    <a:pt x="1946724" y="0"/>
                    <a:pt x="1958511" y="4882"/>
                    <a:pt x="1967202" y="13573"/>
                  </a:cubicBezTo>
                  <a:cubicBezTo>
                    <a:pt x="1975893" y="22264"/>
                    <a:pt x="1980775" y="34051"/>
                    <a:pt x="1980775" y="46341"/>
                  </a:cubicBezTo>
                  <a:lnTo>
                    <a:pt x="1980775" y="636279"/>
                  </a:lnTo>
                  <a:cubicBezTo>
                    <a:pt x="1980775" y="648570"/>
                    <a:pt x="1975893" y="660357"/>
                    <a:pt x="1967202" y="669047"/>
                  </a:cubicBezTo>
                  <a:cubicBezTo>
                    <a:pt x="1958511" y="677738"/>
                    <a:pt x="1946724" y="682621"/>
                    <a:pt x="1934433" y="682621"/>
                  </a:cubicBezTo>
                  <a:lnTo>
                    <a:pt x="46341" y="682621"/>
                  </a:lnTo>
                  <a:cubicBezTo>
                    <a:pt x="34051" y="682621"/>
                    <a:pt x="22264" y="677738"/>
                    <a:pt x="13573" y="669047"/>
                  </a:cubicBezTo>
                  <a:cubicBezTo>
                    <a:pt x="4882" y="660357"/>
                    <a:pt x="0" y="648570"/>
                    <a:pt x="0" y="636279"/>
                  </a:cubicBezTo>
                  <a:lnTo>
                    <a:pt x="0" y="46341"/>
                  </a:lnTo>
                  <a:cubicBezTo>
                    <a:pt x="0" y="34051"/>
                    <a:pt x="4882" y="22264"/>
                    <a:pt x="13573" y="13573"/>
                  </a:cubicBezTo>
                  <a:cubicBezTo>
                    <a:pt x="22264" y="4882"/>
                    <a:pt x="34051" y="0"/>
                    <a:pt x="46341" y="0"/>
                  </a:cubicBezTo>
                  <a:close/>
                </a:path>
              </a:pathLst>
            </a:custGeom>
            <a:solidFill>
              <a:srgbClr val="5A7377"/>
            </a:solidFill>
          </p:spPr>
        </p:sp>
        <p:sp>
          <p:nvSpPr>
            <p:cNvPr name="TextBox 6" id="6"/>
            <p:cNvSpPr txBox="true"/>
            <p:nvPr/>
          </p:nvSpPr>
          <p:spPr>
            <a:xfrm>
              <a:off x="0" y="-47625"/>
              <a:ext cx="1980775" cy="730246"/>
            </a:xfrm>
            <a:prstGeom prst="rect">
              <a:avLst/>
            </a:prstGeom>
          </p:spPr>
          <p:txBody>
            <a:bodyPr anchor="ctr" rtlCol="false" tIns="50800" lIns="50800" bIns="50800" rIns="50800"/>
            <a:lstStyle/>
            <a:p>
              <a:pPr algn="ctr">
                <a:lnSpc>
                  <a:spcPts val="2800"/>
                </a:lnSpc>
              </a:pPr>
            </a:p>
          </p:txBody>
        </p:sp>
      </p:grpSp>
      <p:sp>
        <p:nvSpPr>
          <p:cNvPr name="AutoShape 7" id="7"/>
          <p:cNvSpPr/>
          <p:nvPr/>
        </p:nvSpPr>
        <p:spPr>
          <a:xfrm flipV="true">
            <a:off x="8848231" y="227001"/>
            <a:ext cx="0" cy="10197158"/>
          </a:xfrm>
          <a:prstGeom prst="line">
            <a:avLst/>
          </a:prstGeom>
          <a:ln cap="rnd" w="47625">
            <a:solidFill>
              <a:srgbClr val="ECBE70"/>
            </a:solidFill>
            <a:prstDash val="solid"/>
            <a:headEnd type="none" len="sm" w="sm"/>
            <a:tailEnd type="none" len="sm" w="sm"/>
          </a:ln>
        </p:spPr>
      </p:sp>
      <p:sp>
        <p:nvSpPr>
          <p:cNvPr name="AutoShape 8" id="8"/>
          <p:cNvSpPr/>
          <p:nvPr/>
        </p:nvSpPr>
        <p:spPr>
          <a:xfrm flipV="true">
            <a:off x="437085" y="1115028"/>
            <a:ext cx="7339470" cy="23812"/>
          </a:xfrm>
          <a:prstGeom prst="line">
            <a:avLst/>
          </a:prstGeom>
          <a:ln cap="rnd" w="47625">
            <a:solidFill>
              <a:srgbClr val="ECBE70"/>
            </a:solidFill>
            <a:prstDash val="solid"/>
            <a:headEnd type="none" len="sm" w="sm"/>
            <a:tailEnd type="none" len="sm" w="sm"/>
          </a:ln>
        </p:spPr>
      </p:sp>
      <p:grpSp>
        <p:nvGrpSpPr>
          <p:cNvPr name="Group 9" id="9"/>
          <p:cNvGrpSpPr/>
          <p:nvPr/>
        </p:nvGrpSpPr>
        <p:grpSpPr>
          <a:xfrm rot="0">
            <a:off x="437085" y="1949277"/>
            <a:ext cx="7470647" cy="5999207"/>
            <a:chOff x="0" y="0"/>
            <a:chExt cx="1736778" cy="1394698"/>
          </a:xfrm>
        </p:grpSpPr>
        <p:sp>
          <p:nvSpPr>
            <p:cNvPr name="Freeform 10" id="10"/>
            <p:cNvSpPr/>
            <p:nvPr/>
          </p:nvSpPr>
          <p:spPr>
            <a:xfrm flipH="false" flipV="false" rot="0">
              <a:off x="0" y="0"/>
              <a:ext cx="1736778" cy="1394698"/>
            </a:xfrm>
            <a:custGeom>
              <a:avLst/>
              <a:gdLst/>
              <a:ahLst/>
              <a:cxnLst/>
              <a:rect r="r" b="b" t="t" l="l"/>
              <a:pathLst>
                <a:path h="1394698" w="1736778">
                  <a:moveTo>
                    <a:pt x="52852" y="0"/>
                  </a:moveTo>
                  <a:lnTo>
                    <a:pt x="1683926" y="0"/>
                  </a:lnTo>
                  <a:cubicBezTo>
                    <a:pt x="1697944" y="0"/>
                    <a:pt x="1711387" y="5568"/>
                    <a:pt x="1721298" y="15480"/>
                  </a:cubicBezTo>
                  <a:cubicBezTo>
                    <a:pt x="1731210" y="25392"/>
                    <a:pt x="1736778" y="38835"/>
                    <a:pt x="1736778" y="52852"/>
                  </a:cubicBezTo>
                  <a:lnTo>
                    <a:pt x="1736778" y="1341846"/>
                  </a:lnTo>
                  <a:cubicBezTo>
                    <a:pt x="1736778" y="1355863"/>
                    <a:pt x="1731210" y="1369306"/>
                    <a:pt x="1721298" y="1379218"/>
                  </a:cubicBezTo>
                  <a:cubicBezTo>
                    <a:pt x="1711387" y="1389129"/>
                    <a:pt x="1697944" y="1394698"/>
                    <a:pt x="1683926" y="1394698"/>
                  </a:cubicBezTo>
                  <a:lnTo>
                    <a:pt x="52852" y="1394698"/>
                  </a:lnTo>
                  <a:cubicBezTo>
                    <a:pt x="23663" y="1394698"/>
                    <a:pt x="0" y="1371035"/>
                    <a:pt x="0" y="1341846"/>
                  </a:cubicBezTo>
                  <a:lnTo>
                    <a:pt x="0" y="52852"/>
                  </a:lnTo>
                  <a:cubicBezTo>
                    <a:pt x="0" y="38835"/>
                    <a:pt x="5568" y="25392"/>
                    <a:pt x="15480" y="15480"/>
                  </a:cubicBezTo>
                  <a:cubicBezTo>
                    <a:pt x="25392" y="5568"/>
                    <a:pt x="38835" y="0"/>
                    <a:pt x="52852" y="0"/>
                  </a:cubicBezTo>
                  <a:close/>
                </a:path>
              </a:pathLst>
            </a:custGeom>
            <a:solidFill>
              <a:srgbClr val="5A7377"/>
            </a:solidFill>
          </p:spPr>
        </p:sp>
        <p:sp>
          <p:nvSpPr>
            <p:cNvPr name="TextBox 11" id="11"/>
            <p:cNvSpPr txBox="true"/>
            <p:nvPr/>
          </p:nvSpPr>
          <p:spPr>
            <a:xfrm>
              <a:off x="0" y="-47625"/>
              <a:ext cx="1736778" cy="1442323"/>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03</a:t>
            </a:r>
          </a:p>
        </p:txBody>
      </p:sp>
      <p:sp>
        <p:nvSpPr>
          <p:cNvPr name="TextBox 13" id="13"/>
          <p:cNvSpPr txBox="true"/>
          <p:nvPr/>
        </p:nvSpPr>
        <p:spPr>
          <a:xfrm rot="0">
            <a:off x="9507071" y="1901652"/>
            <a:ext cx="7494161" cy="2175604"/>
          </a:xfrm>
          <a:prstGeom prst="rect">
            <a:avLst/>
          </a:prstGeom>
        </p:spPr>
        <p:txBody>
          <a:bodyPr anchor="t" rtlCol="false" tIns="0" lIns="0" bIns="0" rIns="0">
            <a:spAutoFit/>
          </a:bodyPr>
          <a:lstStyle/>
          <a:p>
            <a:pPr algn="just">
              <a:lnSpc>
                <a:spcPts val="3459"/>
              </a:lnSpc>
            </a:pPr>
            <a:r>
              <a:rPr lang="en-US" sz="2471">
                <a:solidFill>
                  <a:srgbClr val="FFFDF8"/>
                </a:solidFill>
                <a:latin typeface="Source Serif Pro"/>
                <a:ea typeface="Source Serif Pro"/>
                <a:cs typeface="Source Serif Pro"/>
                <a:sym typeface="Source Serif Pro"/>
              </a:rPr>
              <a:t>Identificar el comportamiento de un sistema en un marco de referencia no inercial con el fin de mostrar la aparición y efecto de fuerzas ficticias en la descripción del movimiento, usando un montaje experimental basado en un carro acelerado.</a:t>
            </a:r>
          </a:p>
        </p:txBody>
      </p:sp>
      <p:sp>
        <p:nvSpPr>
          <p:cNvPr name="TextBox 14" id="14"/>
          <p:cNvSpPr txBox="true"/>
          <p:nvPr/>
        </p:nvSpPr>
        <p:spPr>
          <a:xfrm rot="0">
            <a:off x="462244" y="325774"/>
            <a:ext cx="7445488" cy="756316"/>
          </a:xfrm>
          <a:prstGeom prst="rect">
            <a:avLst/>
          </a:prstGeom>
        </p:spPr>
        <p:txBody>
          <a:bodyPr anchor="t" rtlCol="false" tIns="0" lIns="0" bIns="0" rIns="0">
            <a:spAutoFit/>
          </a:bodyPr>
          <a:lstStyle/>
          <a:p>
            <a:pPr algn="ctr">
              <a:lnSpc>
                <a:spcPts val="6088"/>
              </a:lnSpc>
              <a:spcBef>
                <a:spcPct val="0"/>
              </a:spcBef>
            </a:pPr>
            <a:r>
              <a:rPr lang="en-US" sz="4348">
                <a:solidFill>
                  <a:srgbClr val="4A5759"/>
                </a:solidFill>
                <a:latin typeface="Yeseva One"/>
                <a:ea typeface="Yeseva One"/>
                <a:cs typeface="Yeseva One"/>
                <a:sym typeface="Yeseva One"/>
              </a:rPr>
              <a:t>¿Qué se quiere explicar?</a:t>
            </a:r>
          </a:p>
        </p:txBody>
      </p:sp>
      <p:sp>
        <p:nvSpPr>
          <p:cNvPr name="TextBox 15" id="15"/>
          <p:cNvSpPr txBox="true"/>
          <p:nvPr/>
        </p:nvSpPr>
        <p:spPr>
          <a:xfrm rot="0">
            <a:off x="696217" y="2507577"/>
            <a:ext cx="6954357" cy="4834984"/>
          </a:xfrm>
          <a:prstGeom prst="rect">
            <a:avLst/>
          </a:prstGeom>
        </p:spPr>
        <p:txBody>
          <a:bodyPr anchor="t" rtlCol="false" tIns="0" lIns="0" bIns="0" rIns="0">
            <a:spAutoFit/>
          </a:bodyPr>
          <a:lstStyle/>
          <a:p>
            <a:pPr algn="just">
              <a:lnSpc>
                <a:spcPts val="3879"/>
              </a:lnSpc>
            </a:pPr>
            <a:r>
              <a:rPr lang="en-US" sz="2771">
                <a:solidFill>
                  <a:srgbClr val="FFFDF8"/>
                </a:solidFill>
                <a:latin typeface="Source Serif Pro"/>
                <a:ea typeface="Source Serif Pro"/>
                <a:cs typeface="Source Serif Pro"/>
                <a:sym typeface="Source Serif Pro"/>
              </a:rPr>
              <a:t>Se quiere mostrar que la descripción del movimiento del péndulo depende del marco de referencia desde el que se observa. </a:t>
            </a:r>
          </a:p>
          <a:p>
            <a:pPr algn="just">
              <a:lnSpc>
                <a:spcPts val="3879"/>
              </a:lnSpc>
            </a:pPr>
          </a:p>
          <a:p>
            <a:pPr algn="just">
              <a:lnSpc>
                <a:spcPts val="3879"/>
              </a:lnSpc>
            </a:pPr>
            <a:r>
              <a:rPr lang="en-US" sz="2771">
                <a:solidFill>
                  <a:srgbClr val="FFFDF8"/>
                </a:solidFill>
                <a:latin typeface="Source Serif Pro"/>
                <a:ea typeface="Source Serif Pro"/>
                <a:cs typeface="Source Serif Pro"/>
                <a:sym typeface="Source Serif Pro"/>
              </a:rPr>
              <a:t>Para ello se analiza cómo se ve el movimiento desde el marco inercial  y desde el marco no inercial y se verifica que ambas descripciones seon consistentes con las predicciones teóricas.</a:t>
            </a:r>
          </a:p>
        </p:txBody>
      </p:sp>
      <p:sp>
        <p:nvSpPr>
          <p:cNvPr name="TextBox 16" id="16"/>
          <p:cNvSpPr txBox="true"/>
          <p:nvPr/>
        </p:nvSpPr>
        <p:spPr>
          <a:xfrm rot="0">
            <a:off x="7791550" y="4591503"/>
            <a:ext cx="11225085" cy="779811"/>
          </a:xfrm>
          <a:prstGeom prst="rect">
            <a:avLst/>
          </a:prstGeom>
        </p:spPr>
        <p:txBody>
          <a:bodyPr anchor="t" rtlCol="false" tIns="0" lIns="0" bIns="0" rIns="0">
            <a:spAutoFit/>
          </a:bodyPr>
          <a:lstStyle/>
          <a:p>
            <a:pPr algn="ctr">
              <a:lnSpc>
                <a:spcPts val="6368"/>
              </a:lnSpc>
              <a:spcBef>
                <a:spcPct val="0"/>
              </a:spcBef>
            </a:pPr>
            <a:r>
              <a:rPr lang="en-US" sz="4548">
                <a:solidFill>
                  <a:srgbClr val="4A5759"/>
                </a:solidFill>
                <a:latin typeface="Yeseva One"/>
                <a:ea typeface="Yeseva One"/>
                <a:cs typeface="Yeseva One"/>
                <a:sym typeface="Yeseva One"/>
              </a:rPr>
              <a:t>Objetivo específicos</a:t>
            </a:r>
          </a:p>
        </p:txBody>
      </p:sp>
      <p:sp>
        <p:nvSpPr>
          <p:cNvPr name="AutoShape 17" id="17"/>
          <p:cNvSpPr/>
          <p:nvPr/>
        </p:nvSpPr>
        <p:spPr>
          <a:xfrm>
            <a:off x="9803725" y="5371314"/>
            <a:ext cx="7875454" cy="0"/>
          </a:xfrm>
          <a:prstGeom prst="line">
            <a:avLst/>
          </a:prstGeom>
          <a:ln cap="rnd" w="47625">
            <a:solidFill>
              <a:srgbClr val="ECBE70"/>
            </a:solidFill>
            <a:prstDash val="solid"/>
            <a:headEnd type="none" len="sm" w="sm"/>
            <a:tailEnd type="none" len="sm" w="sm"/>
          </a:ln>
        </p:spPr>
      </p:sp>
      <p:grpSp>
        <p:nvGrpSpPr>
          <p:cNvPr name="Group 18" id="18"/>
          <p:cNvGrpSpPr/>
          <p:nvPr/>
        </p:nvGrpSpPr>
        <p:grpSpPr>
          <a:xfrm rot="0">
            <a:off x="9356059" y="5954842"/>
            <a:ext cx="8520184" cy="1340377"/>
            <a:chOff x="0" y="0"/>
            <a:chExt cx="1980775" cy="311611"/>
          </a:xfrm>
        </p:grpSpPr>
        <p:sp>
          <p:nvSpPr>
            <p:cNvPr name="Freeform 19" id="19"/>
            <p:cNvSpPr/>
            <p:nvPr/>
          </p:nvSpPr>
          <p:spPr>
            <a:xfrm flipH="false" flipV="false" rot="0">
              <a:off x="0" y="0"/>
              <a:ext cx="1980775" cy="311611"/>
            </a:xfrm>
            <a:custGeom>
              <a:avLst/>
              <a:gdLst/>
              <a:ahLst/>
              <a:cxnLst/>
              <a:rect r="r" b="b" t="t" l="l"/>
              <a:pathLst>
                <a:path h="311611" w="1980775">
                  <a:moveTo>
                    <a:pt x="46341" y="0"/>
                  </a:moveTo>
                  <a:lnTo>
                    <a:pt x="1934433" y="0"/>
                  </a:lnTo>
                  <a:cubicBezTo>
                    <a:pt x="1946724" y="0"/>
                    <a:pt x="1958511" y="4882"/>
                    <a:pt x="1967202" y="13573"/>
                  </a:cubicBezTo>
                  <a:cubicBezTo>
                    <a:pt x="1975893" y="22264"/>
                    <a:pt x="1980775" y="34051"/>
                    <a:pt x="1980775" y="46341"/>
                  </a:cubicBezTo>
                  <a:lnTo>
                    <a:pt x="1980775" y="265270"/>
                  </a:lnTo>
                  <a:cubicBezTo>
                    <a:pt x="1980775" y="277560"/>
                    <a:pt x="1975893" y="289347"/>
                    <a:pt x="1967202" y="298038"/>
                  </a:cubicBezTo>
                  <a:cubicBezTo>
                    <a:pt x="1958511" y="306729"/>
                    <a:pt x="1946724" y="311611"/>
                    <a:pt x="1934433" y="311611"/>
                  </a:cubicBezTo>
                  <a:lnTo>
                    <a:pt x="46341" y="311611"/>
                  </a:lnTo>
                  <a:cubicBezTo>
                    <a:pt x="34051" y="311611"/>
                    <a:pt x="22264" y="306729"/>
                    <a:pt x="13573" y="298038"/>
                  </a:cubicBezTo>
                  <a:cubicBezTo>
                    <a:pt x="4882" y="289347"/>
                    <a:pt x="0" y="277560"/>
                    <a:pt x="0" y="265270"/>
                  </a:cubicBezTo>
                  <a:lnTo>
                    <a:pt x="0" y="46341"/>
                  </a:lnTo>
                  <a:cubicBezTo>
                    <a:pt x="0" y="34051"/>
                    <a:pt x="4882" y="22264"/>
                    <a:pt x="13573" y="13573"/>
                  </a:cubicBezTo>
                  <a:cubicBezTo>
                    <a:pt x="22264" y="4882"/>
                    <a:pt x="34051" y="0"/>
                    <a:pt x="46341" y="0"/>
                  </a:cubicBezTo>
                  <a:close/>
                </a:path>
              </a:pathLst>
            </a:custGeom>
            <a:solidFill>
              <a:srgbClr val="5A7377"/>
            </a:solidFill>
          </p:spPr>
        </p:sp>
        <p:sp>
          <p:nvSpPr>
            <p:cNvPr name="TextBox 20" id="20"/>
            <p:cNvSpPr txBox="true"/>
            <p:nvPr/>
          </p:nvSpPr>
          <p:spPr>
            <a:xfrm>
              <a:off x="0" y="-47625"/>
              <a:ext cx="1980775" cy="359236"/>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9719130" y="6172885"/>
            <a:ext cx="7509157" cy="861154"/>
          </a:xfrm>
          <a:prstGeom prst="rect">
            <a:avLst/>
          </a:prstGeom>
        </p:spPr>
        <p:txBody>
          <a:bodyPr anchor="t" rtlCol="false" tIns="0" lIns="0" bIns="0" rIns="0">
            <a:spAutoFit/>
          </a:bodyPr>
          <a:lstStyle/>
          <a:p>
            <a:pPr algn="just">
              <a:lnSpc>
                <a:spcPts val="3459"/>
              </a:lnSpc>
            </a:pPr>
            <a:r>
              <a:rPr lang="en-US" sz="2471">
                <a:solidFill>
                  <a:srgbClr val="FFFDF8"/>
                </a:solidFill>
                <a:latin typeface="Source Serif Pro"/>
                <a:ea typeface="Source Serif Pro"/>
                <a:cs typeface="Source Serif Pro"/>
                <a:sym typeface="Source Serif Pro"/>
              </a:rPr>
              <a:t>Elaborar un estudio teórico y experimental de un pendulo simple en un marco de referencia inercial.</a:t>
            </a:r>
          </a:p>
        </p:txBody>
      </p:sp>
      <p:grpSp>
        <p:nvGrpSpPr>
          <p:cNvPr name="Group 22" id="22"/>
          <p:cNvGrpSpPr/>
          <p:nvPr/>
        </p:nvGrpSpPr>
        <p:grpSpPr>
          <a:xfrm rot="0">
            <a:off x="9341064" y="7576235"/>
            <a:ext cx="8520184" cy="1399309"/>
            <a:chOff x="0" y="0"/>
            <a:chExt cx="1980775" cy="325312"/>
          </a:xfrm>
        </p:grpSpPr>
        <p:sp>
          <p:nvSpPr>
            <p:cNvPr name="Freeform 23" id="23"/>
            <p:cNvSpPr/>
            <p:nvPr/>
          </p:nvSpPr>
          <p:spPr>
            <a:xfrm flipH="false" flipV="false" rot="0">
              <a:off x="0" y="0"/>
              <a:ext cx="1980775" cy="325312"/>
            </a:xfrm>
            <a:custGeom>
              <a:avLst/>
              <a:gdLst/>
              <a:ahLst/>
              <a:cxnLst/>
              <a:rect r="r" b="b" t="t" l="l"/>
              <a:pathLst>
                <a:path h="325312" w="1980775">
                  <a:moveTo>
                    <a:pt x="46341" y="0"/>
                  </a:moveTo>
                  <a:lnTo>
                    <a:pt x="1934433" y="0"/>
                  </a:lnTo>
                  <a:cubicBezTo>
                    <a:pt x="1946724" y="0"/>
                    <a:pt x="1958511" y="4882"/>
                    <a:pt x="1967202" y="13573"/>
                  </a:cubicBezTo>
                  <a:cubicBezTo>
                    <a:pt x="1975893" y="22264"/>
                    <a:pt x="1980775" y="34051"/>
                    <a:pt x="1980775" y="46341"/>
                  </a:cubicBezTo>
                  <a:lnTo>
                    <a:pt x="1980775" y="278970"/>
                  </a:lnTo>
                  <a:cubicBezTo>
                    <a:pt x="1980775" y="291261"/>
                    <a:pt x="1975893" y="303048"/>
                    <a:pt x="1967202" y="311739"/>
                  </a:cubicBezTo>
                  <a:cubicBezTo>
                    <a:pt x="1958511" y="320429"/>
                    <a:pt x="1946724" y="325312"/>
                    <a:pt x="1934433" y="325312"/>
                  </a:cubicBezTo>
                  <a:lnTo>
                    <a:pt x="46341" y="325312"/>
                  </a:lnTo>
                  <a:cubicBezTo>
                    <a:pt x="34051" y="325312"/>
                    <a:pt x="22264" y="320429"/>
                    <a:pt x="13573" y="311739"/>
                  </a:cubicBezTo>
                  <a:cubicBezTo>
                    <a:pt x="4882" y="303048"/>
                    <a:pt x="0" y="291261"/>
                    <a:pt x="0" y="278970"/>
                  </a:cubicBezTo>
                  <a:lnTo>
                    <a:pt x="0" y="46341"/>
                  </a:lnTo>
                  <a:cubicBezTo>
                    <a:pt x="0" y="34051"/>
                    <a:pt x="4882" y="22264"/>
                    <a:pt x="13573" y="13573"/>
                  </a:cubicBezTo>
                  <a:cubicBezTo>
                    <a:pt x="22264" y="4882"/>
                    <a:pt x="34051" y="0"/>
                    <a:pt x="46341" y="0"/>
                  </a:cubicBezTo>
                  <a:close/>
                </a:path>
              </a:pathLst>
            </a:custGeom>
            <a:solidFill>
              <a:srgbClr val="5A7377"/>
            </a:solidFill>
          </p:spPr>
        </p:sp>
        <p:sp>
          <p:nvSpPr>
            <p:cNvPr name="TextBox 24" id="24"/>
            <p:cNvSpPr txBox="true"/>
            <p:nvPr/>
          </p:nvSpPr>
          <p:spPr>
            <a:xfrm>
              <a:off x="0" y="-47625"/>
              <a:ext cx="1980775" cy="372937"/>
            </a:xfrm>
            <a:prstGeom prst="rect">
              <a:avLst/>
            </a:prstGeom>
          </p:spPr>
          <p:txBody>
            <a:bodyPr anchor="ctr" rtlCol="false" tIns="50800" lIns="50800" bIns="50800" rIns="50800"/>
            <a:lstStyle/>
            <a:p>
              <a:pPr algn="ctr">
                <a:lnSpc>
                  <a:spcPts val="2800"/>
                </a:lnSpc>
              </a:pPr>
            </a:p>
          </p:txBody>
        </p:sp>
      </p:grpSp>
      <p:sp>
        <p:nvSpPr>
          <p:cNvPr name="TextBox 25" id="25"/>
          <p:cNvSpPr txBox="true"/>
          <p:nvPr/>
        </p:nvSpPr>
        <p:spPr>
          <a:xfrm rot="0">
            <a:off x="9719130" y="7791052"/>
            <a:ext cx="7692570" cy="861154"/>
          </a:xfrm>
          <a:prstGeom prst="rect">
            <a:avLst/>
          </a:prstGeom>
        </p:spPr>
        <p:txBody>
          <a:bodyPr anchor="t" rtlCol="false" tIns="0" lIns="0" bIns="0" rIns="0">
            <a:spAutoFit/>
          </a:bodyPr>
          <a:lstStyle/>
          <a:p>
            <a:pPr algn="just">
              <a:lnSpc>
                <a:spcPts val="3459"/>
              </a:lnSpc>
            </a:pPr>
            <a:r>
              <a:rPr lang="en-US" sz="2471">
                <a:solidFill>
                  <a:srgbClr val="FFFDF8"/>
                </a:solidFill>
                <a:latin typeface="Source Serif Pro"/>
                <a:ea typeface="Source Serif Pro"/>
                <a:cs typeface="Source Serif Pro"/>
                <a:sym typeface="Source Serif Pro"/>
              </a:rPr>
              <a:t> </a:t>
            </a:r>
            <a:r>
              <a:rPr lang="en-US" sz="2471">
                <a:solidFill>
                  <a:srgbClr val="FFFDF8"/>
                </a:solidFill>
                <a:latin typeface="Source Serif Pro"/>
                <a:ea typeface="Source Serif Pro"/>
                <a:cs typeface="Source Serif Pro"/>
                <a:sym typeface="Source Serif Pro"/>
              </a:rPr>
              <a:t>Elaborar un estudio teórico y experimental de un pendulo simple en un marco de referencia no inercial.</a:t>
            </a:r>
          </a:p>
        </p:txBody>
      </p:sp>
      <p:grpSp>
        <p:nvGrpSpPr>
          <p:cNvPr name="Group 26" id="26"/>
          <p:cNvGrpSpPr/>
          <p:nvPr/>
        </p:nvGrpSpPr>
        <p:grpSpPr>
          <a:xfrm rot="0">
            <a:off x="0" y="9829805"/>
            <a:ext cx="18288000" cy="676617"/>
            <a:chOff x="0" y="0"/>
            <a:chExt cx="4119155" cy="152400"/>
          </a:xfrm>
        </p:grpSpPr>
        <p:sp>
          <p:nvSpPr>
            <p:cNvPr name="Freeform 27" id="27"/>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sp>
        <p:nvSpPr>
          <p:cNvPr name="Freeform 28" id="28"/>
          <p:cNvSpPr/>
          <p:nvPr/>
        </p:nvSpPr>
        <p:spPr>
          <a:xfrm flipH="false" flipV="false" rot="0">
            <a:off x="437085" y="8975544"/>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29" id="29"/>
          <p:cNvSpPr txBox="true"/>
          <p:nvPr/>
        </p:nvSpPr>
        <p:spPr>
          <a:xfrm rot="0">
            <a:off x="16794757" y="99026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186482" y="763991"/>
            <a:ext cx="11225085" cy="954907"/>
          </a:xfrm>
          <a:prstGeom prst="rect">
            <a:avLst/>
          </a:prstGeom>
        </p:spPr>
        <p:txBody>
          <a:bodyPr anchor="t" rtlCol="false" tIns="0" lIns="0" bIns="0" rIns="0">
            <a:spAutoFit/>
          </a:bodyPr>
          <a:lstStyle/>
          <a:p>
            <a:pPr algn="l">
              <a:lnSpc>
                <a:spcPts val="7768"/>
              </a:lnSpc>
              <a:spcBef>
                <a:spcPct val="0"/>
              </a:spcBef>
            </a:pPr>
            <a:r>
              <a:rPr lang="en-US" sz="5548">
                <a:solidFill>
                  <a:srgbClr val="4A5759"/>
                </a:solidFill>
                <a:latin typeface="Yeseva One"/>
                <a:ea typeface="Yeseva One"/>
                <a:cs typeface="Yeseva One"/>
                <a:sym typeface="Yeseva One"/>
              </a:rPr>
              <a:t>Metodología:</a:t>
            </a:r>
          </a:p>
        </p:txBody>
      </p:sp>
      <p:sp>
        <p:nvSpPr>
          <p:cNvPr name="AutoShape 3" id="3"/>
          <p:cNvSpPr/>
          <p:nvPr/>
        </p:nvSpPr>
        <p:spPr>
          <a:xfrm>
            <a:off x="1028700" y="1718898"/>
            <a:ext cx="8435058" cy="0"/>
          </a:xfrm>
          <a:prstGeom prst="line">
            <a:avLst/>
          </a:prstGeom>
          <a:ln cap="rnd" w="47625">
            <a:solidFill>
              <a:srgbClr val="ECBE70"/>
            </a:solidFill>
            <a:prstDash val="solid"/>
            <a:headEnd type="none" len="sm" w="sm"/>
            <a:tailEnd type="none" len="sm" w="sm"/>
          </a:ln>
        </p:spPr>
      </p:sp>
      <p:grpSp>
        <p:nvGrpSpPr>
          <p:cNvPr name="Group 4" id="4"/>
          <p:cNvGrpSpPr/>
          <p:nvPr/>
        </p:nvGrpSpPr>
        <p:grpSpPr>
          <a:xfrm rot="0">
            <a:off x="0" y="9610383"/>
            <a:ext cx="18288000" cy="676617"/>
            <a:chOff x="0" y="0"/>
            <a:chExt cx="4119155" cy="152400"/>
          </a:xfrm>
        </p:grpSpPr>
        <p:sp>
          <p:nvSpPr>
            <p:cNvPr name="Freeform 5" id="5"/>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sp>
        <p:nvSpPr>
          <p:cNvPr name="Freeform 6" id="6"/>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7" id="7"/>
          <p:cNvSpPr txBox="true"/>
          <p:nvPr/>
        </p:nvSpPr>
        <p:spPr>
          <a:xfrm rot="0">
            <a:off x="1028700" y="2865703"/>
            <a:ext cx="16230600" cy="6505305"/>
          </a:xfrm>
          <a:prstGeom prst="rect">
            <a:avLst/>
          </a:prstGeom>
        </p:spPr>
        <p:txBody>
          <a:bodyPr anchor="t" rtlCol="false" tIns="0" lIns="0" bIns="0" rIns="0">
            <a:spAutoFit/>
          </a:bodyPr>
          <a:lstStyle/>
          <a:p>
            <a:pPr algn="just">
              <a:lnSpc>
                <a:spcPts val="3689"/>
              </a:lnSpc>
            </a:pPr>
          </a:p>
          <a:p>
            <a:pPr algn="l" marL="569029" indent="-284514" lvl="1">
              <a:lnSpc>
                <a:spcPts val="4164"/>
              </a:lnSpc>
              <a:buAutoNum type="arabicPeriod" startAt="1"/>
            </a:pPr>
            <a:r>
              <a:rPr lang="en-US" sz="2635" spc="-181">
                <a:solidFill>
                  <a:srgbClr val="4A5759"/>
                </a:solidFill>
                <a:latin typeface="Yeseva One"/>
                <a:ea typeface="Yeseva One"/>
                <a:cs typeface="Yeseva One"/>
                <a:sym typeface="Yeseva One"/>
              </a:rPr>
              <a:t> Plantear las ecuaciones de movimiento de un péndulo simple en un marco de referencia inercial.</a:t>
            </a:r>
          </a:p>
          <a:p>
            <a:pPr algn="l">
              <a:lnSpc>
                <a:spcPts val="4164"/>
              </a:lnSpc>
            </a:pPr>
          </a:p>
          <a:p>
            <a:pPr algn="l" marL="569029" indent="-284514" lvl="1">
              <a:lnSpc>
                <a:spcPts val="4164"/>
              </a:lnSpc>
              <a:buAutoNum type="arabicPeriod" startAt="1"/>
            </a:pPr>
            <a:r>
              <a:rPr lang="en-US" sz="2635" spc="-181">
                <a:solidFill>
                  <a:srgbClr val="4A5759"/>
                </a:solidFill>
                <a:latin typeface="Yeseva One"/>
                <a:ea typeface="Yeseva One"/>
                <a:cs typeface="Yeseva One"/>
                <a:sym typeface="Yeseva One"/>
              </a:rPr>
              <a:t> Realizar un montaje experimental con un péndulo en su interior que reproduzca un movimiento rectilíneo uniformemente acelerado.</a:t>
            </a:r>
          </a:p>
          <a:p>
            <a:pPr algn="l">
              <a:lnSpc>
                <a:spcPts val="4164"/>
              </a:lnSpc>
            </a:pPr>
            <a:r>
              <a:rPr lang="en-US" sz="2635" spc="-181">
                <a:solidFill>
                  <a:srgbClr val="4A5759"/>
                </a:solidFill>
                <a:latin typeface="Yeseva One"/>
                <a:ea typeface="Yeseva One"/>
                <a:cs typeface="Yeseva One"/>
                <a:sym typeface="Yeseva One"/>
              </a:rPr>
              <a:t>          </a:t>
            </a:r>
            <a:r>
              <a:rPr lang="en-US" sz="2635" spc="-181">
                <a:solidFill>
                  <a:srgbClr val="4A5759"/>
                </a:solidFill>
                <a:latin typeface="Yeseva One"/>
                <a:ea typeface="Yeseva One"/>
                <a:cs typeface="Yeseva One"/>
                <a:sym typeface="Yeseva One"/>
              </a:rPr>
              <a:t>2.1. Diseñar el dispositivo  que se pretende usar, a través de TinkerCard.</a:t>
            </a:r>
          </a:p>
          <a:p>
            <a:pPr algn="l">
              <a:lnSpc>
                <a:spcPts val="4164"/>
              </a:lnSpc>
            </a:pPr>
            <a:r>
              <a:rPr lang="en-US" sz="2635" spc="-181">
                <a:solidFill>
                  <a:srgbClr val="4A5759"/>
                </a:solidFill>
                <a:latin typeface="Yeseva One"/>
                <a:ea typeface="Yeseva One"/>
                <a:cs typeface="Yeseva One"/>
                <a:sym typeface="Yeseva One"/>
              </a:rPr>
              <a:t>          2.2. Elaborar un sistema de poleas, para acelerar el dispositivo.</a:t>
            </a:r>
          </a:p>
          <a:p>
            <a:pPr algn="l">
              <a:lnSpc>
                <a:spcPts val="4164"/>
              </a:lnSpc>
            </a:pPr>
            <a:r>
              <a:rPr lang="en-US" sz="2635" spc="-181">
                <a:solidFill>
                  <a:srgbClr val="4A5759"/>
                </a:solidFill>
                <a:latin typeface="Yeseva One"/>
                <a:ea typeface="Yeseva One"/>
                <a:cs typeface="Yeseva One"/>
                <a:sym typeface="Yeseva One"/>
              </a:rPr>
              <a:t>          2.3. Construir el dispositivo  y ensamblarlo al sistema de poleas.</a:t>
            </a:r>
          </a:p>
          <a:p>
            <a:pPr algn="l">
              <a:lnSpc>
                <a:spcPts val="4164"/>
              </a:lnSpc>
            </a:pPr>
            <a:r>
              <a:rPr lang="en-US" sz="2635" spc="-181">
                <a:solidFill>
                  <a:srgbClr val="4A5759"/>
                </a:solidFill>
                <a:latin typeface="Yeseva One"/>
                <a:ea typeface="Yeseva One"/>
                <a:cs typeface="Yeseva One"/>
                <a:sym typeface="Yeseva One"/>
              </a:rPr>
              <a:t>  </a:t>
            </a:r>
          </a:p>
          <a:p>
            <a:pPr algn="l">
              <a:lnSpc>
                <a:spcPts val="3689"/>
              </a:lnSpc>
            </a:pPr>
          </a:p>
          <a:p>
            <a:pPr algn="l">
              <a:lnSpc>
                <a:spcPts val="3689"/>
              </a:lnSpc>
            </a:pPr>
          </a:p>
          <a:p>
            <a:pPr algn="l">
              <a:lnSpc>
                <a:spcPts val="3689"/>
              </a:lnSpc>
            </a:pPr>
            <a:r>
              <a:rPr lang="en-US" sz="2635">
                <a:solidFill>
                  <a:srgbClr val="4A5759"/>
                </a:solidFill>
                <a:latin typeface="Yeseva One"/>
                <a:ea typeface="Yeseva One"/>
                <a:cs typeface="Yeseva One"/>
                <a:sym typeface="Yeseva One"/>
              </a:rPr>
              <a:t> </a:t>
            </a:r>
          </a:p>
          <a:p>
            <a:pPr algn="l">
              <a:lnSpc>
                <a:spcPts val="3689"/>
              </a:lnSpc>
            </a:pPr>
          </a:p>
        </p:txBody>
      </p:sp>
      <p:sp>
        <p:nvSpPr>
          <p:cNvPr name="Freeform 8" id="8"/>
          <p:cNvSpPr/>
          <p:nvPr/>
        </p:nvSpPr>
        <p:spPr>
          <a:xfrm flipH="false" flipV="false" rot="0">
            <a:off x="820324" y="3407615"/>
            <a:ext cx="416752" cy="416752"/>
          </a:xfrm>
          <a:custGeom>
            <a:avLst/>
            <a:gdLst/>
            <a:ahLst/>
            <a:cxnLst/>
            <a:rect r="r" b="b" t="t" l="l"/>
            <a:pathLst>
              <a:path h="416752" w="416752">
                <a:moveTo>
                  <a:pt x="0" y="0"/>
                </a:moveTo>
                <a:lnTo>
                  <a:pt x="416752" y="0"/>
                </a:lnTo>
                <a:lnTo>
                  <a:pt x="416752" y="416751"/>
                </a:lnTo>
                <a:lnTo>
                  <a:pt x="0" y="416751"/>
                </a:lnTo>
                <a:lnTo>
                  <a:pt x="0" y="0"/>
                </a:lnTo>
                <a:close/>
              </a:path>
            </a:pathLst>
          </a:custGeom>
          <a:blipFill>
            <a:blip r:embed="rId3"/>
            <a:stretch>
              <a:fillRect l="0" t="0" r="0" b="0"/>
            </a:stretch>
          </a:blipFill>
        </p:spPr>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05</a:t>
            </a:r>
          </a:p>
        </p:txBody>
      </p:sp>
      <p:sp>
        <p:nvSpPr>
          <p:cNvPr name="TextBox 10" id="10"/>
          <p:cNvSpPr txBox="true"/>
          <p:nvPr/>
        </p:nvSpPr>
        <p:spPr>
          <a:xfrm rot="0">
            <a:off x="1105103" y="2465018"/>
            <a:ext cx="15527893" cy="448310"/>
          </a:xfrm>
          <a:prstGeom prst="rect">
            <a:avLst/>
          </a:prstGeom>
        </p:spPr>
        <p:txBody>
          <a:bodyPr anchor="t" rtlCol="false" tIns="0" lIns="0" bIns="0" rIns="0">
            <a:spAutoFit/>
          </a:bodyPr>
          <a:lstStyle/>
          <a:p>
            <a:pPr algn="ctr">
              <a:lnSpc>
                <a:spcPts val="3640"/>
              </a:lnSpc>
            </a:pPr>
            <a:r>
              <a:rPr lang="en-US" sz="2600" i="true">
                <a:solidFill>
                  <a:srgbClr val="000000"/>
                </a:solidFill>
                <a:latin typeface="Open Sans Italics"/>
                <a:ea typeface="Open Sans Italics"/>
                <a:cs typeface="Open Sans Italics"/>
                <a:sym typeface="Open Sans Italics"/>
              </a:rPr>
              <a:t>Obj 1. Elabo</a:t>
            </a:r>
            <a:r>
              <a:rPr lang="en-US" sz="2600" i="true">
                <a:solidFill>
                  <a:srgbClr val="000000"/>
                </a:solidFill>
                <a:latin typeface="Open Sans Italics"/>
                <a:ea typeface="Open Sans Italics"/>
                <a:cs typeface="Open Sans Italics"/>
                <a:sym typeface="Open Sans Italics"/>
              </a:rPr>
              <a:t>rar un estudio teórico y experimental de un pendulo simple en un marco de referencia inercial.</a:t>
            </a:r>
          </a:p>
        </p:txBody>
      </p:sp>
      <p:sp>
        <p:nvSpPr>
          <p:cNvPr name="Freeform 11" id="11"/>
          <p:cNvSpPr/>
          <p:nvPr/>
        </p:nvSpPr>
        <p:spPr>
          <a:xfrm flipH="false" flipV="false" rot="0">
            <a:off x="769730" y="4319666"/>
            <a:ext cx="416752" cy="416752"/>
          </a:xfrm>
          <a:custGeom>
            <a:avLst/>
            <a:gdLst/>
            <a:ahLst/>
            <a:cxnLst/>
            <a:rect r="r" b="b" t="t" l="l"/>
            <a:pathLst>
              <a:path h="416752" w="416752">
                <a:moveTo>
                  <a:pt x="0" y="0"/>
                </a:moveTo>
                <a:lnTo>
                  <a:pt x="416752" y="0"/>
                </a:lnTo>
                <a:lnTo>
                  <a:pt x="416752" y="416752"/>
                </a:lnTo>
                <a:lnTo>
                  <a:pt x="0" y="416752"/>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186482" y="763991"/>
            <a:ext cx="11225085" cy="954907"/>
          </a:xfrm>
          <a:prstGeom prst="rect">
            <a:avLst/>
          </a:prstGeom>
        </p:spPr>
        <p:txBody>
          <a:bodyPr anchor="t" rtlCol="false" tIns="0" lIns="0" bIns="0" rIns="0">
            <a:spAutoFit/>
          </a:bodyPr>
          <a:lstStyle/>
          <a:p>
            <a:pPr algn="l">
              <a:lnSpc>
                <a:spcPts val="7768"/>
              </a:lnSpc>
              <a:spcBef>
                <a:spcPct val="0"/>
              </a:spcBef>
            </a:pPr>
            <a:r>
              <a:rPr lang="en-US" sz="5548">
                <a:solidFill>
                  <a:srgbClr val="4A5759"/>
                </a:solidFill>
                <a:latin typeface="Yeseva One"/>
                <a:ea typeface="Yeseva One"/>
                <a:cs typeface="Yeseva One"/>
                <a:sym typeface="Yeseva One"/>
              </a:rPr>
              <a:t>Metodología:</a:t>
            </a:r>
          </a:p>
        </p:txBody>
      </p:sp>
      <p:sp>
        <p:nvSpPr>
          <p:cNvPr name="AutoShape 3" id="3"/>
          <p:cNvSpPr/>
          <p:nvPr/>
        </p:nvSpPr>
        <p:spPr>
          <a:xfrm>
            <a:off x="1028700" y="1718898"/>
            <a:ext cx="8435058" cy="0"/>
          </a:xfrm>
          <a:prstGeom prst="line">
            <a:avLst/>
          </a:prstGeom>
          <a:ln cap="rnd" w="47625">
            <a:solidFill>
              <a:srgbClr val="ECBE70"/>
            </a:solidFill>
            <a:prstDash val="solid"/>
            <a:headEnd type="none" len="sm" w="sm"/>
            <a:tailEnd type="none" len="sm" w="sm"/>
          </a:ln>
        </p:spPr>
      </p:sp>
      <p:grpSp>
        <p:nvGrpSpPr>
          <p:cNvPr name="Group 4" id="4"/>
          <p:cNvGrpSpPr/>
          <p:nvPr/>
        </p:nvGrpSpPr>
        <p:grpSpPr>
          <a:xfrm rot="0">
            <a:off x="0" y="9610383"/>
            <a:ext cx="18288000" cy="676617"/>
            <a:chOff x="0" y="0"/>
            <a:chExt cx="4119155" cy="152400"/>
          </a:xfrm>
        </p:grpSpPr>
        <p:sp>
          <p:nvSpPr>
            <p:cNvPr name="Freeform 5" id="5"/>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sp>
        <p:nvSpPr>
          <p:cNvPr name="Freeform 6" id="6"/>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7" id="7"/>
          <p:cNvSpPr txBox="true"/>
          <p:nvPr/>
        </p:nvSpPr>
        <p:spPr>
          <a:xfrm rot="0">
            <a:off x="1186482" y="3048666"/>
            <a:ext cx="16230600" cy="4647930"/>
          </a:xfrm>
          <a:prstGeom prst="rect">
            <a:avLst/>
          </a:prstGeom>
        </p:spPr>
        <p:txBody>
          <a:bodyPr anchor="t" rtlCol="false" tIns="0" lIns="0" bIns="0" rIns="0">
            <a:spAutoFit/>
          </a:bodyPr>
          <a:lstStyle/>
          <a:p>
            <a:pPr algn="just">
              <a:lnSpc>
                <a:spcPts val="3689"/>
              </a:lnSpc>
            </a:pPr>
          </a:p>
          <a:p>
            <a:pPr algn="l" marL="569029" indent="-284514" lvl="1">
              <a:lnSpc>
                <a:spcPts val="3689"/>
              </a:lnSpc>
              <a:buAutoNum type="arabicPeriod" startAt="1"/>
            </a:pPr>
            <a:r>
              <a:rPr lang="en-US" sz="2635" spc="-181">
                <a:solidFill>
                  <a:srgbClr val="4A5759"/>
                </a:solidFill>
                <a:latin typeface="Yeseva One"/>
                <a:ea typeface="Yeseva One"/>
                <a:cs typeface="Yeseva One"/>
                <a:sym typeface="Yeseva One"/>
              </a:rPr>
              <a:t>Ejecutar el montaje experimental.</a:t>
            </a:r>
          </a:p>
          <a:p>
            <a:pPr algn="just">
              <a:lnSpc>
                <a:spcPts val="3689"/>
              </a:lnSpc>
            </a:pPr>
            <a:r>
              <a:rPr lang="en-US" sz="2635" spc="-181">
                <a:solidFill>
                  <a:srgbClr val="4A5759"/>
                </a:solidFill>
                <a:latin typeface="Yeseva One"/>
                <a:ea typeface="Yeseva One"/>
                <a:cs typeface="Yeseva One"/>
                <a:sym typeface="Yeseva One"/>
              </a:rPr>
              <a:t>        3.1. Situar el sistema ensamblado sobre una superficie plana.</a:t>
            </a:r>
          </a:p>
          <a:p>
            <a:pPr algn="just">
              <a:lnSpc>
                <a:spcPts val="3689"/>
              </a:lnSpc>
            </a:pPr>
            <a:r>
              <a:rPr lang="en-US" sz="2635" spc="-181">
                <a:solidFill>
                  <a:srgbClr val="4A5759"/>
                </a:solidFill>
                <a:latin typeface="Yeseva One"/>
                <a:ea typeface="Yeseva One"/>
                <a:cs typeface="Yeseva One"/>
                <a:sym typeface="Yeseva One"/>
              </a:rPr>
              <a:t>        3.2. Variar la aceleración del dispositivo modificando la masa del sistema de poleas.</a:t>
            </a:r>
          </a:p>
          <a:p>
            <a:pPr algn="just">
              <a:lnSpc>
                <a:spcPts val="3689"/>
              </a:lnSpc>
            </a:pPr>
            <a:r>
              <a:rPr lang="en-US" sz="2635" spc="-181">
                <a:solidFill>
                  <a:srgbClr val="4A5759"/>
                </a:solidFill>
                <a:latin typeface="Yeseva One"/>
                <a:ea typeface="Yeseva One"/>
                <a:cs typeface="Yeseva One"/>
                <a:sym typeface="Yeseva One"/>
              </a:rPr>
              <a:t>        3</a:t>
            </a:r>
            <a:r>
              <a:rPr lang="en-US" sz="2635" spc="-181">
                <a:solidFill>
                  <a:srgbClr val="4A5759"/>
                </a:solidFill>
                <a:latin typeface="Yeseva One"/>
                <a:ea typeface="Yeseva One"/>
                <a:cs typeface="Yeseva One"/>
                <a:sym typeface="Yeseva One"/>
              </a:rPr>
              <a:t>.3. Registrar el movimiento del pendulo simple, a partir de un</a:t>
            </a:r>
            <a:r>
              <a:rPr lang="en-US" sz="2635" spc="-181">
                <a:solidFill>
                  <a:srgbClr val="4A5759"/>
                </a:solidFill>
                <a:latin typeface="Yeseva One"/>
                <a:ea typeface="Yeseva One"/>
                <a:cs typeface="Yeseva One"/>
                <a:sym typeface="Yeseva One"/>
              </a:rPr>
              <a:t> toma audiovisual desde afuera del sistema.</a:t>
            </a:r>
          </a:p>
          <a:p>
            <a:pPr algn="just">
              <a:lnSpc>
                <a:spcPts val="3689"/>
              </a:lnSpc>
            </a:pPr>
          </a:p>
          <a:p>
            <a:pPr algn="l" marL="569029" indent="-284514" lvl="1">
              <a:lnSpc>
                <a:spcPts val="3689"/>
              </a:lnSpc>
              <a:buAutoNum type="arabicPeriod" startAt="1"/>
            </a:pPr>
            <a:r>
              <a:rPr lang="en-US" sz="2635">
                <a:solidFill>
                  <a:srgbClr val="4A5759"/>
                </a:solidFill>
                <a:latin typeface="Yeseva One"/>
                <a:ea typeface="Yeseva One"/>
                <a:cs typeface="Yeseva One"/>
                <a:sym typeface="Yeseva One"/>
              </a:rPr>
              <a:t>Análizar los registros de video a partir de Tracker.</a:t>
            </a:r>
          </a:p>
          <a:p>
            <a:pPr algn="l">
              <a:lnSpc>
                <a:spcPts val="3689"/>
              </a:lnSpc>
            </a:pPr>
          </a:p>
          <a:p>
            <a:pPr algn="l" marL="569029" indent="-284514" lvl="1">
              <a:lnSpc>
                <a:spcPts val="3689"/>
              </a:lnSpc>
              <a:buAutoNum type="arabicPeriod" startAt="1"/>
            </a:pPr>
            <a:r>
              <a:rPr lang="en-US" sz="2635">
                <a:solidFill>
                  <a:srgbClr val="4A5759"/>
                </a:solidFill>
                <a:latin typeface="Yeseva One"/>
                <a:ea typeface="Yeseva One"/>
                <a:cs typeface="Yeseva One"/>
                <a:sym typeface="Yeseva One"/>
              </a:rPr>
              <a:t>Comparar los resultados experimentales obtenidos con el modelo teórico.</a:t>
            </a:r>
          </a:p>
          <a:p>
            <a:pPr algn="l">
              <a:lnSpc>
                <a:spcPts val="3689"/>
              </a:lnSpc>
            </a:pPr>
          </a:p>
        </p:txBody>
      </p:sp>
      <p:sp>
        <p:nvSpPr>
          <p:cNvPr name="TextBox 8" id="8"/>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06</a:t>
            </a:r>
          </a:p>
        </p:txBody>
      </p:sp>
      <p:sp>
        <p:nvSpPr>
          <p:cNvPr name="TextBox 9" id="9"/>
          <p:cNvSpPr txBox="true"/>
          <p:nvPr/>
        </p:nvSpPr>
        <p:spPr>
          <a:xfrm rot="0">
            <a:off x="1105103" y="2465018"/>
            <a:ext cx="15527893" cy="448310"/>
          </a:xfrm>
          <a:prstGeom prst="rect">
            <a:avLst/>
          </a:prstGeom>
        </p:spPr>
        <p:txBody>
          <a:bodyPr anchor="t" rtlCol="false" tIns="0" lIns="0" bIns="0" rIns="0">
            <a:spAutoFit/>
          </a:bodyPr>
          <a:lstStyle/>
          <a:p>
            <a:pPr algn="ctr">
              <a:lnSpc>
                <a:spcPts val="3640"/>
              </a:lnSpc>
            </a:pPr>
            <a:r>
              <a:rPr lang="en-US" sz="2600" i="true">
                <a:solidFill>
                  <a:srgbClr val="000000"/>
                </a:solidFill>
                <a:latin typeface="Open Sans Italics"/>
                <a:ea typeface="Open Sans Italics"/>
                <a:cs typeface="Open Sans Italics"/>
                <a:sym typeface="Open Sans Italics"/>
              </a:rPr>
              <a:t>Obj 1. Elabo</a:t>
            </a:r>
            <a:r>
              <a:rPr lang="en-US" sz="2600" i="true">
                <a:solidFill>
                  <a:srgbClr val="000000"/>
                </a:solidFill>
                <a:latin typeface="Open Sans Italics"/>
                <a:ea typeface="Open Sans Italics"/>
                <a:cs typeface="Open Sans Italics"/>
                <a:sym typeface="Open Sans Italics"/>
              </a:rPr>
              <a:t>rar un estudio teórico y experimental de un pendulo simple en un marco de referencia inercial.</a:t>
            </a:r>
          </a:p>
        </p:txBody>
      </p:sp>
      <p:sp>
        <p:nvSpPr>
          <p:cNvPr name="Freeform 10" id="10"/>
          <p:cNvSpPr/>
          <p:nvPr/>
        </p:nvSpPr>
        <p:spPr>
          <a:xfrm flipH="false" flipV="false" rot="0">
            <a:off x="769730" y="3591154"/>
            <a:ext cx="416752" cy="416752"/>
          </a:xfrm>
          <a:custGeom>
            <a:avLst/>
            <a:gdLst/>
            <a:ahLst/>
            <a:cxnLst/>
            <a:rect r="r" b="b" t="t" l="l"/>
            <a:pathLst>
              <a:path h="416752" w="416752">
                <a:moveTo>
                  <a:pt x="0" y="0"/>
                </a:moveTo>
                <a:lnTo>
                  <a:pt x="416752" y="0"/>
                </a:lnTo>
                <a:lnTo>
                  <a:pt x="416752" y="416752"/>
                </a:lnTo>
                <a:lnTo>
                  <a:pt x="0" y="416752"/>
                </a:lnTo>
                <a:lnTo>
                  <a:pt x="0" y="0"/>
                </a:lnTo>
                <a:close/>
              </a:path>
            </a:pathLst>
          </a:custGeom>
          <a:blipFill>
            <a:blip r:embed="rId3"/>
            <a:stretch>
              <a:fillRect l="0" t="0" r="0" b="0"/>
            </a:stretch>
          </a:blipFill>
        </p:spPr>
      </p:sp>
      <p:sp>
        <p:nvSpPr>
          <p:cNvPr name="Freeform 11" id="11"/>
          <p:cNvSpPr/>
          <p:nvPr/>
        </p:nvSpPr>
        <p:spPr>
          <a:xfrm flipH="false" flipV="false" rot="0">
            <a:off x="769730" y="5884331"/>
            <a:ext cx="416752" cy="416752"/>
          </a:xfrm>
          <a:custGeom>
            <a:avLst/>
            <a:gdLst/>
            <a:ahLst/>
            <a:cxnLst/>
            <a:rect r="r" b="b" t="t" l="l"/>
            <a:pathLst>
              <a:path h="416752" w="416752">
                <a:moveTo>
                  <a:pt x="0" y="0"/>
                </a:moveTo>
                <a:lnTo>
                  <a:pt x="416752" y="0"/>
                </a:lnTo>
                <a:lnTo>
                  <a:pt x="416752" y="416751"/>
                </a:lnTo>
                <a:lnTo>
                  <a:pt x="0" y="416751"/>
                </a:lnTo>
                <a:lnTo>
                  <a:pt x="0" y="0"/>
                </a:lnTo>
                <a:close/>
              </a:path>
            </a:pathLst>
          </a:custGeom>
          <a:blipFill>
            <a:blip r:embed="rId3"/>
            <a:stretch>
              <a:fillRect l="0" t="0" r="0" b="0"/>
            </a:stretch>
          </a:blipFill>
        </p:spPr>
      </p:sp>
      <p:sp>
        <p:nvSpPr>
          <p:cNvPr name="Freeform 12" id="12"/>
          <p:cNvSpPr/>
          <p:nvPr/>
        </p:nvSpPr>
        <p:spPr>
          <a:xfrm flipH="false" flipV="false" rot="0">
            <a:off x="820324" y="6977357"/>
            <a:ext cx="416752" cy="416752"/>
          </a:xfrm>
          <a:custGeom>
            <a:avLst/>
            <a:gdLst/>
            <a:ahLst/>
            <a:cxnLst/>
            <a:rect r="r" b="b" t="t" l="l"/>
            <a:pathLst>
              <a:path h="416752" w="416752">
                <a:moveTo>
                  <a:pt x="0" y="0"/>
                </a:moveTo>
                <a:lnTo>
                  <a:pt x="416752" y="0"/>
                </a:lnTo>
                <a:lnTo>
                  <a:pt x="416752" y="416752"/>
                </a:lnTo>
                <a:lnTo>
                  <a:pt x="0" y="416752"/>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186482" y="763991"/>
            <a:ext cx="11225085" cy="954907"/>
          </a:xfrm>
          <a:prstGeom prst="rect">
            <a:avLst/>
          </a:prstGeom>
        </p:spPr>
        <p:txBody>
          <a:bodyPr anchor="t" rtlCol="false" tIns="0" lIns="0" bIns="0" rIns="0">
            <a:spAutoFit/>
          </a:bodyPr>
          <a:lstStyle/>
          <a:p>
            <a:pPr algn="l">
              <a:lnSpc>
                <a:spcPts val="7768"/>
              </a:lnSpc>
              <a:spcBef>
                <a:spcPct val="0"/>
              </a:spcBef>
            </a:pPr>
            <a:r>
              <a:rPr lang="en-US" sz="5548">
                <a:solidFill>
                  <a:srgbClr val="4A5759"/>
                </a:solidFill>
                <a:latin typeface="Yeseva One"/>
                <a:ea typeface="Yeseva One"/>
                <a:cs typeface="Yeseva One"/>
                <a:sym typeface="Yeseva One"/>
              </a:rPr>
              <a:t>Metodología:</a:t>
            </a:r>
          </a:p>
        </p:txBody>
      </p:sp>
      <p:sp>
        <p:nvSpPr>
          <p:cNvPr name="AutoShape 3" id="3"/>
          <p:cNvSpPr/>
          <p:nvPr/>
        </p:nvSpPr>
        <p:spPr>
          <a:xfrm>
            <a:off x="1028700" y="1718898"/>
            <a:ext cx="8435058" cy="0"/>
          </a:xfrm>
          <a:prstGeom prst="line">
            <a:avLst/>
          </a:prstGeom>
          <a:ln cap="rnd" w="47625">
            <a:solidFill>
              <a:srgbClr val="ECBE70"/>
            </a:solidFill>
            <a:prstDash val="solid"/>
            <a:headEnd type="none" len="sm" w="sm"/>
            <a:tailEnd type="none" len="sm" w="sm"/>
          </a:ln>
        </p:spPr>
      </p:sp>
      <p:grpSp>
        <p:nvGrpSpPr>
          <p:cNvPr name="Group 4" id="4"/>
          <p:cNvGrpSpPr/>
          <p:nvPr/>
        </p:nvGrpSpPr>
        <p:grpSpPr>
          <a:xfrm rot="0">
            <a:off x="0" y="9610383"/>
            <a:ext cx="18288000" cy="676617"/>
            <a:chOff x="0" y="0"/>
            <a:chExt cx="4119155" cy="152400"/>
          </a:xfrm>
        </p:grpSpPr>
        <p:sp>
          <p:nvSpPr>
            <p:cNvPr name="Freeform 5" id="5"/>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sp>
        <p:nvSpPr>
          <p:cNvPr name="Freeform 6" id="6"/>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7" id="7"/>
          <p:cNvSpPr txBox="true"/>
          <p:nvPr/>
        </p:nvSpPr>
        <p:spPr>
          <a:xfrm rot="0">
            <a:off x="1028700" y="3359990"/>
            <a:ext cx="16230600" cy="4181205"/>
          </a:xfrm>
          <a:prstGeom prst="rect">
            <a:avLst/>
          </a:prstGeom>
        </p:spPr>
        <p:txBody>
          <a:bodyPr anchor="t" rtlCol="false" tIns="0" lIns="0" bIns="0" rIns="0">
            <a:spAutoFit/>
          </a:bodyPr>
          <a:lstStyle/>
          <a:p>
            <a:pPr algn="l" marL="569029" indent="-284514" lvl="1">
              <a:lnSpc>
                <a:spcPts val="3689"/>
              </a:lnSpc>
              <a:buAutoNum type="arabicPeriod" startAt="1"/>
            </a:pPr>
            <a:r>
              <a:rPr lang="en-US" sz="2635">
                <a:solidFill>
                  <a:srgbClr val="4A5759"/>
                </a:solidFill>
                <a:latin typeface="Yeseva One"/>
                <a:ea typeface="Yeseva One"/>
                <a:cs typeface="Yeseva One"/>
                <a:sym typeface="Yeseva One"/>
              </a:rPr>
              <a:t>Plantear las ecuaciones de movimiento de un péndulo simple en un marco de referencia no inercial.</a:t>
            </a:r>
          </a:p>
          <a:p>
            <a:pPr algn="l">
              <a:lnSpc>
                <a:spcPts val="3689"/>
              </a:lnSpc>
            </a:pPr>
          </a:p>
          <a:p>
            <a:pPr algn="l" marL="569029" indent="-284514" lvl="1">
              <a:lnSpc>
                <a:spcPts val="3689"/>
              </a:lnSpc>
              <a:buAutoNum type="arabicPeriod" startAt="1"/>
            </a:pPr>
            <a:r>
              <a:rPr lang="en-US" sz="2635">
                <a:solidFill>
                  <a:srgbClr val="4A5759"/>
                </a:solidFill>
                <a:latin typeface="Yeseva One"/>
                <a:ea typeface="Yeseva One"/>
                <a:cs typeface="Yeseva One"/>
                <a:sym typeface="Yeseva One"/>
              </a:rPr>
              <a:t>Realizar un montaje experimental con un péndulo en su interior que reproduzca un movimiento rectilíneo uniformemente acelerado.</a:t>
            </a:r>
          </a:p>
          <a:p>
            <a:pPr algn="just">
              <a:lnSpc>
                <a:spcPts val="3689"/>
              </a:lnSpc>
            </a:pPr>
            <a:r>
              <a:rPr lang="en-US" sz="2635" spc="-181">
                <a:solidFill>
                  <a:srgbClr val="4A5759"/>
                </a:solidFill>
                <a:latin typeface="Yeseva One"/>
                <a:ea typeface="Yeseva One"/>
                <a:cs typeface="Yeseva One"/>
                <a:sym typeface="Yeseva One"/>
              </a:rPr>
              <a:t>        </a:t>
            </a:r>
            <a:r>
              <a:rPr lang="en-US" sz="2635" spc="-181">
                <a:solidFill>
                  <a:srgbClr val="4A5759"/>
                </a:solidFill>
                <a:latin typeface="Yeseva One"/>
                <a:ea typeface="Yeseva One"/>
                <a:cs typeface="Yeseva One"/>
                <a:sym typeface="Yeseva One"/>
              </a:rPr>
              <a:t>2.1. Diseñar el dispositivo que se pretende usar, a través de TinkerCard.</a:t>
            </a:r>
          </a:p>
          <a:p>
            <a:pPr algn="just">
              <a:lnSpc>
                <a:spcPts val="3689"/>
              </a:lnSpc>
            </a:pPr>
            <a:r>
              <a:rPr lang="en-US" sz="2635" spc="-181">
                <a:solidFill>
                  <a:srgbClr val="4A5759"/>
                </a:solidFill>
                <a:latin typeface="Yeseva One"/>
                <a:ea typeface="Yeseva One"/>
                <a:cs typeface="Yeseva One"/>
                <a:sym typeface="Yeseva One"/>
              </a:rPr>
              <a:t>        2.2. Elaborar un sistema de poleas, para acelerar el dispositivo.</a:t>
            </a:r>
          </a:p>
          <a:p>
            <a:pPr algn="just">
              <a:lnSpc>
                <a:spcPts val="3689"/>
              </a:lnSpc>
            </a:pPr>
            <a:r>
              <a:rPr lang="en-US" sz="2635" spc="-181">
                <a:solidFill>
                  <a:srgbClr val="4A5759"/>
                </a:solidFill>
                <a:latin typeface="Yeseva One"/>
                <a:ea typeface="Yeseva One"/>
                <a:cs typeface="Yeseva One"/>
                <a:sym typeface="Yeseva One"/>
              </a:rPr>
              <a:t>        2.3. Construir el dispositivo con un instrumento de vídeo y ensamblarlo al sistema de poleas.</a:t>
            </a:r>
          </a:p>
          <a:p>
            <a:pPr algn="l">
              <a:lnSpc>
                <a:spcPts val="3689"/>
              </a:lnSpc>
            </a:pPr>
          </a:p>
        </p:txBody>
      </p:sp>
      <p:sp>
        <p:nvSpPr>
          <p:cNvPr name="Freeform 8" id="8"/>
          <p:cNvSpPr/>
          <p:nvPr/>
        </p:nvSpPr>
        <p:spPr>
          <a:xfrm flipH="false" flipV="false" rot="0">
            <a:off x="820324" y="3407615"/>
            <a:ext cx="416752" cy="416752"/>
          </a:xfrm>
          <a:custGeom>
            <a:avLst/>
            <a:gdLst/>
            <a:ahLst/>
            <a:cxnLst/>
            <a:rect r="r" b="b" t="t" l="l"/>
            <a:pathLst>
              <a:path h="416752" w="416752">
                <a:moveTo>
                  <a:pt x="0" y="0"/>
                </a:moveTo>
                <a:lnTo>
                  <a:pt x="416752" y="0"/>
                </a:lnTo>
                <a:lnTo>
                  <a:pt x="416752" y="416751"/>
                </a:lnTo>
                <a:lnTo>
                  <a:pt x="0" y="416751"/>
                </a:lnTo>
                <a:lnTo>
                  <a:pt x="0" y="0"/>
                </a:lnTo>
                <a:close/>
              </a:path>
            </a:pathLst>
          </a:custGeom>
          <a:blipFill>
            <a:blip r:embed="rId3"/>
            <a:stretch>
              <a:fillRect l="0" t="0" r="0" b="0"/>
            </a:stretch>
          </a:blipFill>
        </p:spPr>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07</a:t>
            </a:r>
          </a:p>
        </p:txBody>
      </p:sp>
      <p:sp>
        <p:nvSpPr>
          <p:cNvPr name="TextBox 10" id="10"/>
          <p:cNvSpPr txBox="true"/>
          <p:nvPr/>
        </p:nvSpPr>
        <p:spPr>
          <a:xfrm rot="0">
            <a:off x="247606" y="2007818"/>
            <a:ext cx="16394752" cy="448310"/>
          </a:xfrm>
          <a:prstGeom prst="rect">
            <a:avLst/>
          </a:prstGeom>
        </p:spPr>
        <p:txBody>
          <a:bodyPr anchor="t" rtlCol="false" tIns="0" lIns="0" bIns="0" rIns="0">
            <a:spAutoFit/>
          </a:bodyPr>
          <a:lstStyle/>
          <a:p>
            <a:pPr algn="ctr">
              <a:lnSpc>
                <a:spcPts val="3640"/>
              </a:lnSpc>
            </a:pPr>
            <a:r>
              <a:rPr lang="en-US" sz="2600" i="true">
                <a:solidFill>
                  <a:srgbClr val="000000"/>
                </a:solidFill>
                <a:latin typeface="Open Sans Italics"/>
                <a:ea typeface="Open Sans Italics"/>
                <a:cs typeface="Open Sans Italics"/>
                <a:sym typeface="Open Sans Italics"/>
              </a:rPr>
              <a:t>Obj 2. Elabo</a:t>
            </a:r>
            <a:r>
              <a:rPr lang="en-US" sz="2600" i="true">
                <a:solidFill>
                  <a:srgbClr val="000000"/>
                </a:solidFill>
                <a:latin typeface="Open Sans Italics"/>
                <a:ea typeface="Open Sans Italics"/>
                <a:cs typeface="Open Sans Italics"/>
                <a:sym typeface="Open Sans Italics"/>
              </a:rPr>
              <a:t>rar un estudio teórico y experimental de un pendulo simple en un marco de referencia no inercial.</a:t>
            </a:r>
          </a:p>
        </p:txBody>
      </p:sp>
      <p:sp>
        <p:nvSpPr>
          <p:cNvPr name="Freeform 11" id="11"/>
          <p:cNvSpPr/>
          <p:nvPr/>
        </p:nvSpPr>
        <p:spPr>
          <a:xfrm flipH="false" flipV="false" rot="0">
            <a:off x="769730" y="4726748"/>
            <a:ext cx="416752" cy="416752"/>
          </a:xfrm>
          <a:custGeom>
            <a:avLst/>
            <a:gdLst/>
            <a:ahLst/>
            <a:cxnLst/>
            <a:rect r="r" b="b" t="t" l="l"/>
            <a:pathLst>
              <a:path h="416752" w="416752">
                <a:moveTo>
                  <a:pt x="0" y="0"/>
                </a:moveTo>
                <a:lnTo>
                  <a:pt x="416752" y="0"/>
                </a:lnTo>
                <a:lnTo>
                  <a:pt x="416752" y="416752"/>
                </a:lnTo>
                <a:lnTo>
                  <a:pt x="0" y="416752"/>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186482" y="763991"/>
            <a:ext cx="11225085" cy="954907"/>
          </a:xfrm>
          <a:prstGeom prst="rect">
            <a:avLst/>
          </a:prstGeom>
        </p:spPr>
        <p:txBody>
          <a:bodyPr anchor="t" rtlCol="false" tIns="0" lIns="0" bIns="0" rIns="0">
            <a:spAutoFit/>
          </a:bodyPr>
          <a:lstStyle/>
          <a:p>
            <a:pPr algn="l">
              <a:lnSpc>
                <a:spcPts val="7768"/>
              </a:lnSpc>
              <a:spcBef>
                <a:spcPct val="0"/>
              </a:spcBef>
            </a:pPr>
            <a:r>
              <a:rPr lang="en-US" sz="5548">
                <a:solidFill>
                  <a:srgbClr val="4A5759"/>
                </a:solidFill>
                <a:latin typeface="Yeseva One"/>
                <a:ea typeface="Yeseva One"/>
                <a:cs typeface="Yeseva One"/>
                <a:sym typeface="Yeseva One"/>
              </a:rPr>
              <a:t>Metodología:</a:t>
            </a:r>
          </a:p>
        </p:txBody>
      </p:sp>
      <p:sp>
        <p:nvSpPr>
          <p:cNvPr name="AutoShape 3" id="3"/>
          <p:cNvSpPr/>
          <p:nvPr/>
        </p:nvSpPr>
        <p:spPr>
          <a:xfrm>
            <a:off x="1028700" y="1718898"/>
            <a:ext cx="8435058" cy="0"/>
          </a:xfrm>
          <a:prstGeom prst="line">
            <a:avLst/>
          </a:prstGeom>
          <a:ln cap="rnd" w="47625">
            <a:solidFill>
              <a:srgbClr val="ECBE70"/>
            </a:solidFill>
            <a:prstDash val="solid"/>
            <a:headEnd type="none" len="sm" w="sm"/>
            <a:tailEnd type="none" len="sm" w="sm"/>
          </a:ln>
        </p:spPr>
      </p:sp>
      <p:grpSp>
        <p:nvGrpSpPr>
          <p:cNvPr name="Group 4" id="4"/>
          <p:cNvGrpSpPr/>
          <p:nvPr/>
        </p:nvGrpSpPr>
        <p:grpSpPr>
          <a:xfrm rot="0">
            <a:off x="0" y="9610383"/>
            <a:ext cx="18288000" cy="676617"/>
            <a:chOff x="0" y="0"/>
            <a:chExt cx="4119155" cy="152400"/>
          </a:xfrm>
        </p:grpSpPr>
        <p:sp>
          <p:nvSpPr>
            <p:cNvPr name="Freeform 5" id="5"/>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sp>
        <p:nvSpPr>
          <p:cNvPr name="Freeform 6" id="6"/>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7" id="7"/>
          <p:cNvSpPr txBox="true"/>
          <p:nvPr/>
        </p:nvSpPr>
        <p:spPr>
          <a:xfrm rot="0">
            <a:off x="1028700" y="3245904"/>
            <a:ext cx="16230600" cy="4647930"/>
          </a:xfrm>
          <a:prstGeom prst="rect">
            <a:avLst/>
          </a:prstGeom>
        </p:spPr>
        <p:txBody>
          <a:bodyPr anchor="t" rtlCol="false" tIns="0" lIns="0" bIns="0" rIns="0">
            <a:spAutoFit/>
          </a:bodyPr>
          <a:lstStyle/>
          <a:p>
            <a:pPr algn="l" marL="569029" indent="-284514" lvl="1">
              <a:lnSpc>
                <a:spcPts val="3689"/>
              </a:lnSpc>
              <a:buAutoNum type="arabicPeriod" startAt="1"/>
            </a:pPr>
            <a:r>
              <a:rPr lang="en-US" sz="2635" spc="-181">
                <a:solidFill>
                  <a:srgbClr val="4A5759"/>
                </a:solidFill>
                <a:latin typeface="Yeseva One"/>
                <a:ea typeface="Yeseva One"/>
                <a:cs typeface="Yeseva One"/>
                <a:sym typeface="Yeseva One"/>
              </a:rPr>
              <a:t>Ejecutar el montaje experimental.</a:t>
            </a:r>
          </a:p>
          <a:p>
            <a:pPr algn="just">
              <a:lnSpc>
                <a:spcPts val="3689"/>
              </a:lnSpc>
            </a:pPr>
            <a:r>
              <a:rPr lang="en-US" sz="2635" spc="-181">
                <a:solidFill>
                  <a:srgbClr val="4A5759"/>
                </a:solidFill>
                <a:latin typeface="Yeseva One"/>
                <a:ea typeface="Yeseva One"/>
                <a:cs typeface="Yeseva One"/>
                <a:sym typeface="Yeseva One"/>
              </a:rPr>
              <a:t>        3.1. Situar el sistema ensamblado sobre una superficie plana.</a:t>
            </a:r>
          </a:p>
          <a:p>
            <a:pPr algn="just">
              <a:lnSpc>
                <a:spcPts val="3689"/>
              </a:lnSpc>
            </a:pPr>
            <a:r>
              <a:rPr lang="en-US" sz="2635" spc="-181">
                <a:solidFill>
                  <a:srgbClr val="4A5759"/>
                </a:solidFill>
                <a:latin typeface="Yeseva One"/>
                <a:ea typeface="Yeseva One"/>
                <a:cs typeface="Yeseva One"/>
                <a:sym typeface="Yeseva One"/>
              </a:rPr>
              <a:t>        3.2. Variar la aceleración del dispositivo modificando la masa del sistema de poleas.</a:t>
            </a:r>
          </a:p>
          <a:p>
            <a:pPr algn="just">
              <a:lnSpc>
                <a:spcPts val="3689"/>
              </a:lnSpc>
            </a:pPr>
            <a:r>
              <a:rPr lang="en-US" sz="2635" spc="-181">
                <a:solidFill>
                  <a:srgbClr val="4A5759"/>
                </a:solidFill>
                <a:latin typeface="Yeseva One"/>
                <a:ea typeface="Yeseva One"/>
                <a:cs typeface="Yeseva One"/>
                <a:sym typeface="Yeseva One"/>
              </a:rPr>
              <a:t>        3</a:t>
            </a:r>
            <a:r>
              <a:rPr lang="en-US" sz="2635" spc="-181">
                <a:solidFill>
                  <a:srgbClr val="4A5759"/>
                </a:solidFill>
                <a:latin typeface="Yeseva One"/>
                <a:ea typeface="Yeseva One"/>
                <a:cs typeface="Yeseva One"/>
                <a:sym typeface="Yeseva One"/>
              </a:rPr>
              <a:t>.3. Registrar el movimiento del pendulo simple, a partir de un</a:t>
            </a:r>
            <a:r>
              <a:rPr lang="en-US" sz="2635" spc="-181">
                <a:solidFill>
                  <a:srgbClr val="4A5759"/>
                </a:solidFill>
                <a:latin typeface="Yeseva One"/>
                <a:ea typeface="Yeseva One"/>
                <a:cs typeface="Yeseva One"/>
                <a:sym typeface="Yeseva One"/>
              </a:rPr>
              <a:t> toma audiovisual</a:t>
            </a:r>
          </a:p>
          <a:p>
            <a:pPr algn="just">
              <a:lnSpc>
                <a:spcPts val="3689"/>
              </a:lnSpc>
            </a:pPr>
          </a:p>
          <a:p>
            <a:pPr algn="l" marL="569029" indent="-284514" lvl="1">
              <a:lnSpc>
                <a:spcPts val="3689"/>
              </a:lnSpc>
              <a:buAutoNum type="arabicPeriod" startAt="1"/>
            </a:pPr>
            <a:r>
              <a:rPr lang="en-US" sz="2635" spc="-181">
                <a:solidFill>
                  <a:srgbClr val="4A5759"/>
                </a:solidFill>
                <a:latin typeface="Yeseva One"/>
                <a:ea typeface="Yeseva One"/>
                <a:cs typeface="Yeseva One"/>
                <a:sym typeface="Yeseva One"/>
              </a:rPr>
              <a:t>Análizar los registros de video a partir de Tracker.</a:t>
            </a:r>
          </a:p>
          <a:p>
            <a:pPr algn="l">
              <a:lnSpc>
                <a:spcPts val="3689"/>
              </a:lnSpc>
            </a:pPr>
          </a:p>
          <a:p>
            <a:pPr algn="l" marL="569029" indent="-284514" lvl="1">
              <a:lnSpc>
                <a:spcPts val="3689"/>
              </a:lnSpc>
              <a:buAutoNum type="arabicPeriod" startAt="1"/>
            </a:pPr>
            <a:r>
              <a:rPr lang="en-US" sz="2635" spc="-181">
                <a:solidFill>
                  <a:srgbClr val="4A5759"/>
                </a:solidFill>
                <a:latin typeface="Yeseva One"/>
                <a:ea typeface="Yeseva One"/>
                <a:cs typeface="Yeseva One"/>
                <a:sym typeface="Yeseva One"/>
              </a:rPr>
              <a:t>Comparar los resultados experimentales obtenidos con el modelo teórico.</a:t>
            </a:r>
          </a:p>
          <a:p>
            <a:pPr algn="l">
              <a:lnSpc>
                <a:spcPts val="3689"/>
              </a:lnSpc>
            </a:pPr>
          </a:p>
          <a:p>
            <a:pPr algn="just">
              <a:lnSpc>
                <a:spcPts val="3689"/>
              </a:lnSpc>
            </a:pPr>
          </a:p>
        </p:txBody>
      </p:sp>
      <p:sp>
        <p:nvSpPr>
          <p:cNvPr name="TextBox 8" id="8"/>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08</a:t>
            </a:r>
          </a:p>
        </p:txBody>
      </p:sp>
      <p:sp>
        <p:nvSpPr>
          <p:cNvPr name="Freeform 9" id="9"/>
          <p:cNvSpPr/>
          <p:nvPr/>
        </p:nvSpPr>
        <p:spPr>
          <a:xfrm flipH="false" flipV="false" rot="0">
            <a:off x="610077" y="3293529"/>
            <a:ext cx="416752" cy="416752"/>
          </a:xfrm>
          <a:custGeom>
            <a:avLst/>
            <a:gdLst/>
            <a:ahLst/>
            <a:cxnLst/>
            <a:rect r="r" b="b" t="t" l="l"/>
            <a:pathLst>
              <a:path h="416752" w="416752">
                <a:moveTo>
                  <a:pt x="0" y="0"/>
                </a:moveTo>
                <a:lnTo>
                  <a:pt x="416751" y="0"/>
                </a:lnTo>
                <a:lnTo>
                  <a:pt x="416751" y="416752"/>
                </a:lnTo>
                <a:lnTo>
                  <a:pt x="0" y="416752"/>
                </a:lnTo>
                <a:lnTo>
                  <a:pt x="0" y="0"/>
                </a:lnTo>
                <a:close/>
              </a:path>
            </a:pathLst>
          </a:custGeom>
          <a:blipFill>
            <a:blip r:embed="rId3"/>
            <a:stretch>
              <a:fillRect l="0" t="0" r="0" b="0"/>
            </a:stretch>
          </a:blipFill>
        </p:spPr>
      </p:sp>
      <p:sp>
        <p:nvSpPr>
          <p:cNvPr name="Freeform 10" id="10"/>
          <p:cNvSpPr/>
          <p:nvPr/>
        </p:nvSpPr>
        <p:spPr>
          <a:xfrm flipH="false" flipV="false" rot="0">
            <a:off x="611948" y="5593682"/>
            <a:ext cx="416752" cy="416752"/>
          </a:xfrm>
          <a:custGeom>
            <a:avLst/>
            <a:gdLst/>
            <a:ahLst/>
            <a:cxnLst/>
            <a:rect r="r" b="b" t="t" l="l"/>
            <a:pathLst>
              <a:path h="416752" w="416752">
                <a:moveTo>
                  <a:pt x="0" y="0"/>
                </a:moveTo>
                <a:lnTo>
                  <a:pt x="416752" y="0"/>
                </a:lnTo>
                <a:lnTo>
                  <a:pt x="416752" y="416752"/>
                </a:lnTo>
                <a:lnTo>
                  <a:pt x="0" y="416752"/>
                </a:lnTo>
                <a:lnTo>
                  <a:pt x="0" y="0"/>
                </a:lnTo>
                <a:close/>
              </a:path>
            </a:pathLst>
          </a:custGeom>
          <a:blipFill>
            <a:blip r:embed="rId3"/>
            <a:stretch>
              <a:fillRect l="0" t="0" r="0" b="0"/>
            </a:stretch>
          </a:blipFill>
        </p:spPr>
      </p:sp>
      <p:sp>
        <p:nvSpPr>
          <p:cNvPr name="Freeform 11" id="11"/>
          <p:cNvSpPr/>
          <p:nvPr/>
        </p:nvSpPr>
        <p:spPr>
          <a:xfrm flipH="false" flipV="false" rot="0">
            <a:off x="610077" y="6666747"/>
            <a:ext cx="416752" cy="416752"/>
          </a:xfrm>
          <a:custGeom>
            <a:avLst/>
            <a:gdLst/>
            <a:ahLst/>
            <a:cxnLst/>
            <a:rect r="r" b="b" t="t" l="l"/>
            <a:pathLst>
              <a:path h="416752" w="416752">
                <a:moveTo>
                  <a:pt x="0" y="0"/>
                </a:moveTo>
                <a:lnTo>
                  <a:pt x="416751" y="0"/>
                </a:lnTo>
                <a:lnTo>
                  <a:pt x="416751" y="416751"/>
                </a:lnTo>
                <a:lnTo>
                  <a:pt x="0" y="416751"/>
                </a:lnTo>
                <a:lnTo>
                  <a:pt x="0" y="0"/>
                </a:lnTo>
                <a:close/>
              </a:path>
            </a:pathLst>
          </a:custGeom>
          <a:blipFill>
            <a:blip r:embed="rId3"/>
            <a:stretch>
              <a:fillRect l="0" t="0" r="0" b="0"/>
            </a:stretch>
          </a:blipFill>
        </p:spPr>
      </p:sp>
      <p:sp>
        <p:nvSpPr>
          <p:cNvPr name="TextBox 12" id="12"/>
          <p:cNvSpPr txBox="true"/>
          <p:nvPr/>
        </p:nvSpPr>
        <p:spPr>
          <a:xfrm rot="0">
            <a:off x="610077" y="1896089"/>
            <a:ext cx="16394752" cy="448310"/>
          </a:xfrm>
          <a:prstGeom prst="rect">
            <a:avLst/>
          </a:prstGeom>
        </p:spPr>
        <p:txBody>
          <a:bodyPr anchor="t" rtlCol="false" tIns="0" lIns="0" bIns="0" rIns="0">
            <a:spAutoFit/>
          </a:bodyPr>
          <a:lstStyle/>
          <a:p>
            <a:pPr algn="ctr">
              <a:lnSpc>
                <a:spcPts val="3640"/>
              </a:lnSpc>
            </a:pPr>
            <a:r>
              <a:rPr lang="en-US" sz="2600" i="true">
                <a:solidFill>
                  <a:srgbClr val="000000"/>
                </a:solidFill>
                <a:latin typeface="Open Sans Italics"/>
                <a:ea typeface="Open Sans Italics"/>
                <a:cs typeface="Open Sans Italics"/>
                <a:sym typeface="Open Sans Italics"/>
              </a:rPr>
              <a:t>Obj 2. Elabo</a:t>
            </a:r>
            <a:r>
              <a:rPr lang="en-US" sz="2600" i="true">
                <a:solidFill>
                  <a:srgbClr val="000000"/>
                </a:solidFill>
                <a:latin typeface="Open Sans Italics"/>
                <a:ea typeface="Open Sans Italics"/>
                <a:cs typeface="Open Sans Italics"/>
                <a:sym typeface="Open Sans Italics"/>
              </a:rPr>
              <a:t>rar un estudio teórico y experimental de un pendulo simple en un marco de referencia no inercial.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flipV="true">
            <a:off x="1316284" y="1795975"/>
            <a:ext cx="4547218" cy="227286"/>
          </a:xfrm>
          <a:prstGeom prst="line">
            <a:avLst/>
          </a:prstGeom>
          <a:ln cap="rnd" w="47625">
            <a:solidFill>
              <a:srgbClr val="FFFDF8"/>
            </a:solidFill>
            <a:prstDash val="solid"/>
            <a:headEnd type="none" len="sm" w="sm"/>
            <a:tailEnd type="none" len="sm" w="sm"/>
          </a:ln>
        </p:spPr>
      </p:sp>
      <p:sp>
        <p:nvSpPr>
          <p:cNvPr name="TextBox 3" id="3"/>
          <p:cNvSpPr txBox="true"/>
          <p:nvPr/>
        </p:nvSpPr>
        <p:spPr>
          <a:xfrm rot="0">
            <a:off x="1316284" y="1277452"/>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Modelo teórico:</a:t>
            </a:r>
          </a:p>
        </p:txBody>
      </p:sp>
      <p:sp>
        <p:nvSpPr>
          <p:cNvPr name="TextBox 4" id="4"/>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09</a:t>
            </a:r>
          </a:p>
        </p:txBody>
      </p:sp>
      <p:sp>
        <p:nvSpPr>
          <p:cNvPr name="TextBox 5" id="5"/>
          <p:cNvSpPr txBox="true"/>
          <p:nvPr/>
        </p:nvSpPr>
        <p:spPr>
          <a:xfrm rot="0">
            <a:off x="1028700" y="2473005"/>
            <a:ext cx="13338182" cy="522971"/>
          </a:xfrm>
          <a:prstGeom prst="rect">
            <a:avLst/>
          </a:prstGeom>
        </p:spPr>
        <p:txBody>
          <a:bodyPr anchor="t" rtlCol="false" tIns="0" lIns="0" bIns="0" rIns="0">
            <a:spAutoFit/>
          </a:bodyPr>
          <a:lstStyle/>
          <a:p>
            <a:pPr algn="just"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Freeform 6" id="6"/>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pic>
        <p:nvPicPr>
          <p:cNvPr name="Picture 7" id="7"/>
          <p:cNvPicPr>
            <a:picLocks noChangeAspect="true"/>
          </p:cNvPicPr>
          <p:nvPr/>
        </p:nvPicPr>
        <p:blipFill>
          <a:blip r:embed="rId3"/>
          <a:stretch>
            <a:fillRect/>
          </a:stretch>
        </p:blipFill>
        <p:spPr>
          <a:xfrm rot="0">
            <a:off x="1634080" y="2940030"/>
            <a:ext cx="6614958" cy="1710765"/>
          </a:xfrm>
          <a:prstGeom prst="rect">
            <a:avLst/>
          </a:prstGeom>
        </p:spPr>
      </p:pic>
      <p:pic>
        <p:nvPicPr>
          <p:cNvPr name="Picture 8" id="8"/>
          <p:cNvPicPr>
            <a:picLocks noChangeAspect="true"/>
          </p:cNvPicPr>
          <p:nvPr/>
        </p:nvPicPr>
        <p:blipFill>
          <a:blip r:embed="rId4"/>
          <a:stretch>
            <a:fillRect/>
          </a:stretch>
        </p:blipFill>
        <p:spPr>
          <a:xfrm rot="0">
            <a:off x="1903058" y="6539549"/>
            <a:ext cx="2615765" cy="1395075"/>
          </a:xfrm>
          <a:prstGeom prst="rect">
            <a:avLst/>
          </a:prstGeom>
        </p:spPr>
      </p:pic>
      <p:pic>
        <p:nvPicPr>
          <p:cNvPr name="Picture 9" id="9"/>
          <p:cNvPicPr>
            <a:picLocks noChangeAspect="true"/>
          </p:cNvPicPr>
          <p:nvPr/>
        </p:nvPicPr>
        <p:blipFill>
          <a:blip r:embed="rId5"/>
          <a:stretch>
            <a:fillRect/>
          </a:stretch>
        </p:blipFill>
        <p:spPr>
          <a:xfrm rot="0">
            <a:off x="4943195" y="6473160"/>
            <a:ext cx="4806853" cy="1760256"/>
          </a:xfrm>
          <a:prstGeom prst="rect">
            <a:avLst/>
          </a:prstGeom>
        </p:spPr>
      </p:pic>
      <p:sp>
        <p:nvSpPr>
          <p:cNvPr name="AutoShape 10" id="10"/>
          <p:cNvSpPr/>
          <p:nvPr/>
        </p:nvSpPr>
        <p:spPr>
          <a:xfrm flipH="true">
            <a:off x="4389685" y="4274969"/>
            <a:ext cx="0" cy="868531"/>
          </a:xfrm>
          <a:prstGeom prst="line">
            <a:avLst/>
          </a:prstGeom>
          <a:ln cap="flat" w="38100">
            <a:solidFill>
              <a:srgbClr val="FFFDF8"/>
            </a:solidFill>
            <a:prstDash val="sysDot"/>
            <a:headEnd type="none" len="sm" w="sm"/>
            <a:tailEnd type="arrow" len="sm" w="med"/>
          </a:ln>
        </p:spPr>
      </p:sp>
      <p:sp>
        <p:nvSpPr>
          <p:cNvPr name="TextBox 11" id="11"/>
          <p:cNvSpPr txBox="true"/>
          <p:nvPr/>
        </p:nvSpPr>
        <p:spPr>
          <a:xfrm rot="0">
            <a:off x="3783361" y="5276850"/>
            <a:ext cx="1265634"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Posición </a:t>
            </a:r>
          </a:p>
          <a:p>
            <a:pPr algn="ctr">
              <a:lnSpc>
                <a:spcPts val="3080"/>
              </a:lnSpc>
            </a:pPr>
            <a:r>
              <a:rPr lang="en-US" sz="2200" i="true">
                <a:solidFill>
                  <a:srgbClr val="000000"/>
                </a:solidFill>
                <a:latin typeface="Open Sans Italics"/>
                <a:ea typeface="Open Sans Italics"/>
                <a:cs typeface="Open Sans Italics"/>
                <a:sym typeface="Open Sans Italics"/>
              </a:rPr>
              <a:t>del carrito</a:t>
            </a:r>
          </a:p>
        </p:txBody>
      </p:sp>
      <p:sp>
        <p:nvSpPr>
          <p:cNvPr name="AutoShape 12" id="12"/>
          <p:cNvSpPr/>
          <p:nvPr/>
        </p:nvSpPr>
        <p:spPr>
          <a:xfrm flipH="true">
            <a:off x="6718711" y="4274969"/>
            <a:ext cx="0" cy="868531"/>
          </a:xfrm>
          <a:prstGeom prst="line">
            <a:avLst/>
          </a:prstGeom>
          <a:ln cap="flat" w="38100">
            <a:solidFill>
              <a:srgbClr val="FFFDF8"/>
            </a:solidFill>
            <a:prstDash val="sysDot"/>
            <a:headEnd type="none" len="sm" w="sm"/>
            <a:tailEnd type="arrow" len="sm" w="med"/>
          </a:ln>
        </p:spPr>
      </p:sp>
      <p:sp>
        <p:nvSpPr>
          <p:cNvPr name="TextBox 13" id="13"/>
          <p:cNvSpPr txBox="true"/>
          <p:nvPr/>
        </p:nvSpPr>
        <p:spPr>
          <a:xfrm rot="0">
            <a:off x="5502011" y="5276850"/>
            <a:ext cx="2471499"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Posición del </a:t>
            </a:r>
          </a:p>
          <a:p>
            <a:pPr algn="ctr">
              <a:lnSpc>
                <a:spcPts val="3080"/>
              </a:lnSpc>
            </a:pPr>
            <a:r>
              <a:rPr lang="en-US" sz="2200" i="true">
                <a:solidFill>
                  <a:srgbClr val="000000"/>
                </a:solidFill>
                <a:latin typeface="Open Sans Italics"/>
                <a:ea typeface="Open Sans Italics"/>
                <a:cs typeface="Open Sans Italics"/>
                <a:sym typeface="Open Sans Italics"/>
              </a:rPr>
              <a:t>péndulo proyectada</a:t>
            </a:r>
          </a:p>
        </p:txBody>
      </p:sp>
      <p:sp>
        <p:nvSpPr>
          <p:cNvPr name="TextBox 14" id="14"/>
          <p:cNvSpPr txBox="true"/>
          <p:nvPr/>
        </p:nvSpPr>
        <p:spPr>
          <a:xfrm rot="0">
            <a:off x="4978273" y="7133432"/>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AutoShape 15" id="15"/>
          <p:cNvSpPr/>
          <p:nvPr/>
        </p:nvSpPr>
        <p:spPr>
          <a:xfrm>
            <a:off x="6671248" y="7893818"/>
            <a:ext cx="0" cy="633519"/>
          </a:xfrm>
          <a:prstGeom prst="line">
            <a:avLst/>
          </a:prstGeom>
          <a:ln cap="flat" w="38100">
            <a:solidFill>
              <a:srgbClr val="FFFDF8"/>
            </a:solidFill>
            <a:prstDash val="sysDot"/>
            <a:headEnd type="none" len="sm" w="sm"/>
            <a:tailEnd type="arrow" len="sm" w="med"/>
          </a:ln>
        </p:spPr>
      </p:sp>
      <p:sp>
        <p:nvSpPr>
          <p:cNvPr name="TextBox 16" id="16"/>
          <p:cNvSpPr txBox="true"/>
          <p:nvPr/>
        </p:nvSpPr>
        <p:spPr>
          <a:xfrm rot="0">
            <a:off x="6038431" y="8570437"/>
            <a:ext cx="1265634"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Masa </a:t>
            </a:r>
          </a:p>
          <a:p>
            <a:pPr algn="ctr">
              <a:lnSpc>
                <a:spcPts val="3080"/>
              </a:lnSpc>
            </a:pPr>
            <a:r>
              <a:rPr lang="en-US" sz="2200" i="true">
                <a:solidFill>
                  <a:srgbClr val="000000"/>
                </a:solidFill>
                <a:latin typeface="Open Sans Italics"/>
                <a:ea typeface="Open Sans Italics"/>
                <a:cs typeface="Open Sans Italics"/>
                <a:sym typeface="Open Sans Italics"/>
              </a:rPr>
              <a:t>del carrito</a:t>
            </a:r>
          </a:p>
        </p:txBody>
      </p:sp>
      <p:sp>
        <p:nvSpPr>
          <p:cNvPr name="AutoShape 17" id="17"/>
          <p:cNvSpPr/>
          <p:nvPr/>
        </p:nvSpPr>
        <p:spPr>
          <a:xfrm flipH="true">
            <a:off x="7869673" y="7893818"/>
            <a:ext cx="0" cy="647672"/>
          </a:xfrm>
          <a:prstGeom prst="line">
            <a:avLst/>
          </a:prstGeom>
          <a:ln cap="flat" w="38100">
            <a:solidFill>
              <a:srgbClr val="FFFDF8"/>
            </a:solidFill>
            <a:prstDash val="sysDot"/>
            <a:headEnd type="none" len="sm" w="sm"/>
            <a:tailEnd type="arrow" len="sm" w="med"/>
          </a:ln>
        </p:spPr>
      </p:sp>
      <p:sp>
        <p:nvSpPr>
          <p:cNvPr name="TextBox 18" id="18"/>
          <p:cNvSpPr txBox="true"/>
          <p:nvPr/>
        </p:nvSpPr>
        <p:spPr>
          <a:xfrm rot="0">
            <a:off x="7368301" y="8570437"/>
            <a:ext cx="1040844"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Masa </a:t>
            </a:r>
          </a:p>
          <a:p>
            <a:pPr algn="ctr">
              <a:lnSpc>
                <a:spcPts val="3080"/>
              </a:lnSpc>
            </a:pPr>
            <a:r>
              <a:rPr lang="en-US" sz="2200" i="true">
                <a:solidFill>
                  <a:srgbClr val="000000"/>
                </a:solidFill>
                <a:latin typeface="Open Sans Italics"/>
                <a:ea typeface="Open Sans Italics"/>
                <a:cs typeface="Open Sans Italics"/>
                <a:sym typeface="Open Sans Italics"/>
              </a:rPr>
              <a:t>colgante</a:t>
            </a:r>
          </a:p>
        </p:txBody>
      </p:sp>
      <p:sp>
        <p:nvSpPr>
          <p:cNvPr name="AutoShape 19" id="19"/>
          <p:cNvSpPr/>
          <p:nvPr/>
        </p:nvSpPr>
        <p:spPr>
          <a:xfrm flipH="true">
            <a:off x="8977192" y="7893818"/>
            <a:ext cx="0" cy="647672"/>
          </a:xfrm>
          <a:prstGeom prst="line">
            <a:avLst/>
          </a:prstGeom>
          <a:ln cap="flat" w="38100">
            <a:solidFill>
              <a:srgbClr val="FFFDF8"/>
            </a:solidFill>
            <a:prstDash val="sysDot"/>
            <a:headEnd type="none" len="sm" w="sm"/>
            <a:tailEnd type="arrow" len="sm" w="med"/>
          </a:ln>
        </p:spPr>
      </p:sp>
      <p:sp>
        <p:nvSpPr>
          <p:cNvPr name="TextBox 20" id="20"/>
          <p:cNvSpPr txBox="true"/>
          <p:nvPr/>
        </p:nvSpPr>
        <p:spPr>
          <a:xfrm rot="0">
            <a:off x="8491060" y="8570437"/>
            <a:ext cx="1010364"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Masa </a:t>
            </a:r>
          </a:p>
          <a:p>
            <a:pPr algn="ctr">
              <a:lnSpc>
                <a:spcPts val="3080"/>
              </a:lnSpc>
            </a:pPr>
            <a:r>
              <a:rPr lang="en-US" sz="2200" i="true">
                <a:solidFill>
                  <a:srgbClr val="000000"/>
                </a:solidFill>
                <a:latin typeface="Open Sans Italics"/>
                <a:ea typeface="Open Sans Italics"/>
                <a:cs typeface="Open Sans Italics"/>
                <a:sym typeface="Open Sans Italics"/>
              </a:rPr>
              <a:t>péndulo</a:t>
            </a:r>
          </a:p>
        </p:txBody>
      </p:sp>
      <p:sp>
        <p:nvSpPr>
          <p:cNvPr name="AutoShape 21" id="21"/>
          <p:cNvSpPr/>
          <p:nvPr/>
        </p:nvSpPr>
        <p:spPr>
          <a:xfrm>
            <a:off x="3843757" y="7818411"/>
            <a:ext cx="0" cy="633519"/>
          </a:xfrm>
          <a:prstGeom prst="line">
            <a:avLst/>
          </a:prstGeom>
          <a:ln cap="flat" w="38100">
            <a:solidFill>
              <a:srgbClr val="FFFDF8"/>
            </a:solidFill>
            <a:prstDash val="sysDot"/>
            <a:headEnd type="none" len="sm" w="sm"/>
            <a:tailEnd type="arrow" len="sm" w="med"/>
          </a:ln>
        </p:spPr>
      </p:sp>
      <p:sp>
        <p:nvSpPr>
          <p:cNvPr name="TextBox 22" id="22"/>
          <p:cNvSpPr txBox="true"/>
          <p:nvPr/>
        </p:nvSpPr>
        <p:spPr>
          <a:xfrm rot="0">
            <a:off x="3138550" y="8495030"/>
            <a:ext cx="1410414" cy="763270"/>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Aceleración</a:t>
            </a:r>
          </a:p>
          <a:p>
            <a:pPr algn="ctr">
              <a:lnSpc>
                <a:spcPts val="3080"/>
              </a:lnSpc>
            </a:pPr>
            <a:r>
              <a:rPr lang="en-US" sz="2200" i="true">
                <a:solidFill>
                  <a:srgbClr val="000000"/>
                </a:solidFill>
                <a:latin typeface="Open Sans Italics"/>
                <a:ea typeface="Open Sans Italics"/>
                <a:cs typeface="Open Sans Italics"/>
                <a:sym typeface="Open Sans Italics"/>
              </a:rPr>
              <a:t>carrito</a:t>
            </a:r>
          </a:p>
        </p:txBody>
      </p:sp>
      <p:sp>
        <p:nvSpPr>
          <p:cNvPr name="Freeform 23" id="23"/>
          <p:cNvSpPr/>
          <p:nvPr/>
        </p:nvSpPr>
        <p:spPr>
          <a:xfrm flipH="false" flipV="false" rot="0">
            <a:off x="11237981" y="3151497"/>
            <a:ext cx="4570687" cy="4666915"/>
          </a:xfrm>
          <a:custGeom>
            <a:avLst/>
            <a:gdLst/>
            <a:ahLst/>
            <a:cxnLst/>
            <a:rect r="r" b="b" t="t" l="l"/>
            <a:pathLst>
              <a:path h="4666915" w="4570687">
                <a:moveTo>
                  <a:pt x="0" y="0"/>
                </a:moveTo>
                <a:lnTo>
                  <a:pt x="4570687" y="0"/>
                </a:lnTo>
                <a:lnTo>
                  <a:pt x="4570687" y="4666914"/>
                </a:lnTo>
                <a:lnTo>
                  <a:pt x="0" y="4666914"/>
                </a:lnTo>
                <a:lnTo>
                  <a:pt x="0" y="0"/>
                </a:lnTo>
                <a:close/>
              </a:path>
            </a:pathLst>
          </a:custGeom>
          <a:blipFill>
            <a:blip r:embed="rId6"/>
            <a:stretch>
              <a:fillRect l="0" t="-1343" r="0" b="-1343"/>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4547218" cy="0"/>
          </a:xfrm>
          <a:prstGeom prst="line">
            <a:avLst/>
          </a:prstGeom>
          <a:ln cap="rnd" w="47625">
            <a:solidFill>
              <a:srgbClr val="FFFDF8"/>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718789" y="3182379"/>
            <a:ext cx="7246635" cy="3922241"/>
          </a:xfrm>
          <a:custGeom>
            <a:avLst/>
            <a:gdLst/>
            <a:ahLst/>
            <a:cxnLst/>
            <a:rect r="r" b="b" t="t" l="l"/>
            <a:pathLst>
              <a:path h="3922241" w="7246635">
                <a:moveTo>
                  <a:pt x="0" y="0"/>
                </a:moveTo>
                <a:lnTo>
                  <a:pt x="7246635" y="0"/>
                </a:lnTo>
                <a:lnTo>
                  <a:pt x="7246635" y="3922242"/>
                </a:lnTo>
                <a:lnTo>
                  <a:pt x="0" y="3922242"/>
                </a:lnTo>
                <a:lnTo>
                  <a:pt x="0" y="0"/>
                </a:lnTo>
                <a:close/>
              </a:path>
            </a:pathLst>
          </a:custGeom>
          <a:blipFill>
            <a:blip r:embed="rId3"/>
            <a:stretch>
              <a:fillRect l="0" t="0" r="0" b="0"/>
            </a:stretch>
          </a:blipFill>
        </p:spPr>
      </p:sp>
      <p:sp>
        <p:nvSpPr>
          <p:cNvPr name="Freeform 8" id="8"/>
          <p:cNvSpPr/>
          <p:nvPr/>
        </p:nvSpPr>
        <p:spPr>
          <a:xfrm flipH="false" flipV="false" rot="0">
            <a:off x="10235050" y="1173795"/>
            <a:ext cx="6708422" cy="3630933"/>
          </a:xfrm>
          <a:custGeom>
            <a:avLst/>
            <a:gdLst/>
            <a:ahLst/>
            <a:cxnLst/>
            <a:rect r="r" b="b" t="t" l="l"/>
            <a:pathLst>
              <a:path h="3630933" w="6708422">
                <a:moveTo>
                  <a:pt x="0" y="0"/>
                </a:moveTo>
                <a:lnTo>
                  <a:pt x="6708422" y="0"/>
                </a:lnTo>
                <a:lnTo>
                  <a:pt x="6708422" y="3630933"/>
                </a:lnTo>
                <a:lnTo>
                  <a:pt x="0" y="3630933"/>
                </a:lnTo>
                <a:lnTo>
                  <a:pt x="0" y="0"/>
                </a:lnTo>
                <a:close/>
              </a:path>
            </a:pathLst>
          </a:custGeom>
          <a:blipFill>
            <a:blip r:embed="rId4"/>
            <a:stretch>
              <a:fillRect l="0" t="0" r="0" b="0"/>
            </a:stretch>
          </a:blipFill>
        </p:spPr>
      </p:sp>
      <p:sp>
        <p:nvSpPr>
          <p:cNvPr name="Freeform 9" id="9"/>
          <p:cNvSpPr/>
          <p:nvPr/>
        </p:nvSpPr>
        <p:spPr>
          <a:xfrm flipH="false" flipV="false" rot="0">
            <a:off x="10235050" y="5900802"/>
            <a:ext cx="6708422" cy="3630933"/>
          </a:xfrm>
          <a:custGeom>
            <a:avLst/>
            <a:gdLst/>
            <a:ahLst/>
            <a:cxnLst/>
            <a:rect r="r" b="b" t="t" l="l"/>
            <a:pathLst>
              <a:path h="3630933" w="6708422">
                <a:moveTo>
                  <a:pt x="0" y="0"/>
                </a:moveTo>
                <a:lnTo>
                  <a:pt x="6708422" y="0"/>
                </a:lnTo>
                <a:lnTo>
                  <a:pt x="6708422" y="3630933"/>
                </a:lnTo>
                <a:lnTo>
                  <a:pt x="0" y="3630933"/>
                </a:lnTo>
                <a:lnTo>
                  <a:pt x="0" y="0"/>
                </a:lnTo>
                <a:close/>
              </a:path>
            </a:pathLst>
          </a:custGeom>
          <a:blipFill>
            <a:blip r:embed="rId5"/>
            <a:stretch>
              <a:fillRect l="0" t="0" r="0" b="0"/>
            </a:stretch>
          </a:blipFill>
        </p:spPr>
      </p:sp>
      <p:sp>
        <p:nvSpPr>
          <p:cNvPr name="TextBox 10" id="10"/>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Modelo teórico:</a:t>
            </a:r>
          </a:p>
        </p:txBody>
      </p:sp>
      <p:sp>
        <p:nvSpPr>
          <p:cNvPr name="TextBox 11" id="11"/>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10</a:t>
            </a:r>
          </a:p>
        </p:txBody>
      </p:sp>
      <p:sp>
        <p:nvSpPr>
          <p:cNvPr name="TextBox 12" id="12"/>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3" id="13"/>
          <p:cNvSpPr txBox="true"/>
          <p:nvPr/>
        </p:nvSpPr>
        <p:spPr>
          <a:xfrm rot="0">
            <a:off x="1495324" y="2378515"/>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1:</a:t>
            </a:r>
          </a:p>
        </p:txBody>
      </p:sp>
      <p:sp>
        <p:nvSpPr>
          <p:cNvPr name="TextBox 14" id="14"/>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5" id="15"/>
          <p:cNvSpPr txBox="true"/>
          <p:nvPr/>
        </p:nvSpPr>
        <p:spPr>
          <a:xfrm rot="0">
            <a:off x="9652351" y="438851"/>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2:</a:t>
            </a:r>
          </a:p>
        </p:txBody>
      </p:sp>
      <p:sp>
        <p:nvSpPr>
          <p:cNvPr name="TextBox 16" id="16"/>
          <p:cNvSpPr txBox="true"/>
          <p:nvPr/>
        </p:nvSpPr>
        <p:spPr>
          <a:xfrm rot="0">
            <a:off x="9973266" y="5076825"/>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3:</a:t>
            </a:r>
          </a:p>
        </p:txBody>
      </p:sp>
      <p:sp>
        <p:nvSpPr>
          <p:cNvPr name="TextBox 17" id="17"/>
          <p:cNvSpPr txBox="true"/>
          <p:nvPr/>
        </p:nvSpPr>
        <p:spPr>
          <a:xfrm rot="0">
            <a:off x="4352994" y="7152246"/>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m=0.355 [Kg]</a:t>
            </a:r>
          </a:p>
        </p:txBody>
      </p:sp>
      <p:sp>
        <p:nvSpPr>
          <p:cNvPr name="TextBox 18" id="18"/>
          <p:cNvSpPr txBox="true"/>
          <p:nvPr/>
        </p:nvSpPr>
        <p:spPr>
          <a:xfrm rot="0">
            <a:off x="12600149" y="4747578"/>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m=0.384 [Kg]</a:t>
            </a:r>
          </a:p>
        </p:txBody>
      </p:sp>
      <p:sp>
        <p:nvSpPr>
          <p:cNvPr name="TextBox 19" id="19"/>
          <p:cNvSpPr txBox="true"/>
          <p:nvPr/>
        </p:nvSpPr>
        <p:spPr>
          <a:xfrm rot="0">
            <a:off x="12855282" y="9474585"/>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m=0.739 [Kg]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flipV="true">
            <a:off x="1316284" y="1048702"/>
            <a:ext cx="4547218" cy="23813"/>
          </a:xfrm>
          <a:prstGeom prst="line">
            <a:avLst/>
          </a:prstGeom>
          <a:ln cap="rnd" w="47625">
            <a:solidFill>
              <a:srgbClr val="FFFDF8"/>
            </a:solidFill>
            <a:prstDash val="solid"/>
            <a:headEnd type="none" len="sm" w="sm"/>
            <a:tailEnd type="none" len="sm" w="sm"/>
          </a:ln>
        </p:spPr>
      </p:sp>
      <p:sp>
        <p:nvSpPr>
          <p:cNvPr name="Freeform 3" id="3"/>
          <p:cNvSpPr/>
          <p:nvPr/>
        </p:nvSpPr>
        <p:spPr>
          <a:xfrm flipH="false" flipV="false" rot="0">
            <a:off x="15890229"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sp>
        <p:nvSpPr>
          <p:cNvPr name="Freeform 4" id="4"/>
          <p:cNvSpPr/>
          <p:nvPr/>
        </p:nvSpPr>
        <p:spPr>
          <a:xfrm flipH="false" flipV="false" rot="0">
            <a:off x="1798414" y="2050462"/>
            <a:ext cx="4969971" cy="3944915"/>
          </a:xfrm>
          <a:custGeom>
            <a:avLst/>
            <a:gdLst/>
            <a:ahLst/>
            <a:cxnLst/>
            <a:rect r="r" b="b" t="t" l="l"/>
            <a:pathLst>
              <a:path h="3944915" w="4969971">
                <a:moveTo>
                  <a:pt x="0" y="0"/>
                </a:moveTo>
                <a:lnTo>
                  <a:pt x="4969972" y="0"/>
                </a:lnTo>
                <a:lnTo>
                  <a:pt x="4969972" y="3944915"/>
                </a:lnTo>
                <a:lnTo>
                  <a:pt x="0" y="3944915"/>
                </a:lnTo>
                <a:lnTo>
                  <a:pt x="0" y="0"/>
                </a:lnTo>
                <a:close/>
              </a:path>
            </a:pathLst>
          </a:custGeom>
          <a:blipFill>
            <a:blip r:embed="rId3"/>
            <a:stretch>
              <a:fillRect l="0" t="0" r="0" b="0"/>
            </a:stretch>
          </a:blipFill>
        </p:spPr>
      </p:sp>
      <p:pic>
        <p:nvPicPr>
          <p:cNvPr name="Picture 5" id="5"/>
          <p:cNvPicPr>
            <a:picLocks noChangeAspect="true"/>
          </p:cNvPicPr>
          <p:nvPr/>
        </p:nvPicPr>
        <p:blipFill>
          <a:blip r:embed="rId4"/>
          <a:stretch>
            <a:fillRect/>
          </a:stretch>
        </p:blipFill>
        <p:spPr>
          <a:xfrm rot="0">
            <a:off x="1480822" y="6896096"/>
            <a:ext cx="3811110" cy="1088889"/>
          </a:xfrm>
          <a:prstGeom prst="rect">
            <a:avLst/>
          </a:prstGeom>
        </p:spPr>
      </p:pic>
      <p:pic>
        <p:nvPicPr>
          <p:cNvPr name="Picture 6" id="6"/>
          <p:cNvPicPr>
            <a:picLocks noChangeAspect="true"/>
          </p:cNvPicPr>
          <p:nvPr/>
        </p:nvPicPr>
        <p:blipFill>
          <a:blip r:embed="rId5"/>
          <a:stretch>
            <a:fillRect/>
          </a:stretch>
        </p:blipFill>
        <p:spPr>
          <a:xfrm rot="0">
            <a:off x="1382124" y="6004483"/>
            <a:ext cx="4995481" cy="1292121"/>
          </a:xfrm>
          <a:prstGeom prst="rect">
            <a:avLst/>
          </a:prstGeom>
        </p:spPr>
      </p:pic>
      <p:pic>
        <p:nvPicPr>
          <p:cNvPr name="Picture 7" id="7"/>
          <p:cNvPicPr>
            <a:picLocks noChangeAspect="true"/>
          </p:cNvPicPr>
          <p:nvPr/>
        </p:nvPicPr>
        <p:blipFill>
          <a:blip r:embed="rId6"/>
          <a:stretch>
            <a:fillRect/>
          </a:stretch>
        </p:blipFill>
        <p:spPr>
          <a:xfrm rot="0">
            <a:off x="9307302" y="1557904"/>
            <a:ext cx="8001878" cy="2096678"/>
          </a:xfrm>
          <a:prstGeom prst="rect">
            <a:avLst/>
          </a:prstGeom>
        </p:spPr>
      </p:pic>
      <p:pic>
        <p:nvPicPr>
          <p:cNvPr name="Picture 8" id="8"/>
          <p:cNvPicPr>
            <a:picLocks noChangeAspect="true"/>
          </p:cNvPicPr>
          <p:nvPr/>
        </p:nvPicPr>
        <p:blipFill>
          <a:blip r:embed="rId7"/>
          <a:stretch>
            <a:fillRect/>
          </a:stretch>
        </p:blipFill>
        <p:spPr>
          <a:xfrm rot="0">
            <a:off x="9465822" y="2037992"/>
            <a:ext cx="6533255" cy="2730832"/>
          </a:xfrm>
          <a:prstGeom prst="rect">
            <a:avLst/>
          </a:prstGeom>
        </p:spPr>
      </p:pic>
      <p:pic>
        <p:nvPicPr>
          <p:cNvPr name="Picture 9" id="9"/>
          <p:cNvPicPr>
            <a:picLocks noChangeAspect="true"/>
          </p:cNvPicPr>
          <p:nvPr/>
        </p:nvPicPr>
        <p:blipFill>
          <a:blip r:embed="rId8"/>
          <a:stretch>
            <a:fillRect/>
          </a:stretch>
        </p:blipFill>
        <p:spPr>
          <a:xfrm rot="0">
            <a:off x="8618474" y="2036266"/>
            <a:ext cx="1264234" cy="2167259"/>
          </a:xfrm>
          <a:prstGeom prst="rect">
            <a:avLst/>
          </a:prstGeom>
        </p:spPr>
      </p:pic>
      <p:pic>
        <p:nvPicPr>
          <p:cNvPr name="Picture 10" id="10"/>
          <p:cNvPicPr>
            <a:picLocks noChangeAspect="true"/>
          </p:cNvPicPr>
          <p:nvPr/>
        </p:nvPicPr>
        <p:blipFill>
          <a:blip r:embed="rId9"/>
          <a:stretch>
            <a:fillRect/>
          </a:stretch>
        </p:blipFill>
        <p:spPr>
          <a:xfrm rot="0">
            <a:off x="8139295" y="4030539"/>
            <a:ext cx="9738360" cy="3240445"/>
          </a:xfrm>
          <a:prstGeom prst="rect">
            <a:avLst/>
          </a:prstGeom>
        </p:spPr>
      </p:pic>
      <p:grpSp>
        <p:nvGrpSpPr>
          <p:cNvPr name="Group 11" id="11"/>
          <p:cNvGrpSpPr/>
          <p:nvPr/>
        </p:nvGrpSpPr>
        <p:grpSpPr>
          <a:xfrm rot="0">
            <a:off x="8469952" y="7119010"/>
            <a:ext cx="8789348" cy="1596874"/>
            <a:chOff x="0" y="0"/>
            <a:chExt cx="2487616" cy="451957"/>
          </a:xfrm>
        </p:grpSpPr>
        <p:sp>
          <p:nvSpPr>
            <p:cNvPr name="Freeform 12" id="12"/>
            <p:cNvSpPr/>
            <p:nvPr/>
          </p:nvSpPr>
          <p:spPr>
            <a:xfrm flipH="false" flipV="false" rot="0">
              <a:off x="0" y="0"/>
              <a:ext cx="2487616" cy="451957"/>
            </a:xfrm>
            <a:custGeom>
              <a:avLst/>
              <a:gdLst/>
              <a:ahLst/>
              <a:cxnLst/>
              <a:rect r="r" b="b" t="t" l="l"/>
              <a:pathLst>
                <a:path h="451957" w="2487616">
                  <a:moveTo>
                    <a:pt x="44922" y="0"/>
                  </a:moveTo>
                  <a:lnTo>
                    <a:pt x="2442694" y="0"/>
                  </a:lnTo>
                  <a:cubicBezTo>
                    <a:pt x="2467504" y="0"/>
                    <a:pt x="2487616" y="20112"/>
                    <a:pt x="2487616" y="44922"/>
                  </a:cubicBezTo>
                  <a:lnTo>
                    <a:pt x="2487616" y="407035"/>
                  </a:lnTo>
                  <a:cubicBezTo>
                    <a:pt x="2487616" y="431845"/>
                    <a:pt x="2467504" y="451957"/>
                    <a:pt x="2442694" y="451957"/>
                  </a:cubicBezTo>
                  <a:lnTo>
                    <a:pt x="44922" y="451957"/>
                  </a:lnTo>
                  <a:cubicBezTo>
                    <a:pt x="20112" y="451957"/>
                    <a:pt x="0" y="431845"/>
                    <a:pt x="0" y="407035"/>
                  </a:cubicBezTo>
                  <a:lnTo>
                    <a:pt x="0" y="44922"/>
                  </a:lnTo>
                  <a:cubicBezTo>
                    <a:pt x="0" y="20112"/>
                    <a:pt x="20112" y="0"/>
                    <a:pt x="44922" y="0"/>
                  </a:cubicBezTo>
                  <a:close/>
                </a:path>
              </a:pathLst>
            </a:custGeom>
            <a:solidFill>
              <a:srgbClr val="5A7377"/>
            </a:solidFill>
            <a:ln w="38100" cap="rnd">
              <a:solidFill>
                <a:srgbClr val="000000"/>
              </a:solidFill>
              <a:prstDash val="solid"/>
              <a:round/>
            </a:ln>
          </p:spPr>
        </p:sp>
        <p:sp>
          <p:nvSpPr>
            <p:cNvPr name="TextBox 13" id="13"/>
            <p:cNvSpPr txBox="true"/>
            <p:nvPr/>
          </p:nvSpPr>
          <p:spPr>
            <a:xfrm>
              <a:off x="0" y="-47625"/>
              <a:ext cx="2487616" cy="499582"/>
            </a:xfrm>
            <a:prstGeom prst="rect">
              <a:avLst/>
            </a:prstGeom>
          </p:spPr>
          <p:txBody>
            <a:bodyPr anchor="ctr" rtlCol="false" tIns="50800" lIns="50800" bIns="50800" rIns="50800"/>
            <a:lstStyle/>
            <a:p>
              <a:pPr algn="ctr">
                <a:lnSpc>
                  <a:spcPts val="2800"/>
                </a:lnSpc>
              </a:pPr>
            </a:p>
          </p:txBody>
        </p:sp>
      </p:grpSp>
      <p:pic>
        <p:nvPicPr>
          <p:cNvPr name="Picture 14" id="14"/>
          <p:cNvPicPr>
            <a:picLocks noChangeAspect="true"/>
          </p:cNvPicPr>
          <p:nvPr/>
        </p:nvPicPr>
        <p:blipFill>
          <a:blip r:embed="rId10"/>
          <a:stretch>
            <a:fillRect/>
          </a:stretch>
        </p:blipFill>
        <p:spPr>
          <a:xfrm rot="0">
            <a:off x="8477383" y="5761422"/>
            <a:ext cx="9062183" cy="3440650"/>
          </a:xfrm>
          <a:prstGeom prst="rect">
            <a:avLst/>
          </a:prstGeom>
        </p:spPr>
      </p:pic>
      <p:pic>
        <p:nvPicPr>
          <p:cNvPr name="Picture 15" id="15"/>
          <p:cNvPicPr>
            <a:picLocks noChangeAspect="true"/>
          </p:cNvPicPr>
          <p:nvPr/>
        </p:nvPicPr>
        <p:blipFill>
          <a:blip r:embed="rId11"/>
          <a:stretch>
            <a:fillRect/>
          </a:stretch>
        </p:blipFill>
        <p:spPr>
          <a:xfrm rot="0">
            <a:off x="2260087" y="7705640"/>
            <a:ext cx="4022641" cy="1473080"/>
          </a:xfrm>
          <a:prstGeom prst="rect">
            <a:avLst/>
          </a:prstGeom>
        </p:spPr>
      </p:pic>
      <p:sp>
        <p:nvSpPr>
          <p:cNvPr name="AutoShape 16" id="16"/>
          <p:cNvSpPr/>
          <p:nvPr/>
        </p:nvSpPr>
        <p:spPr>
          <a:xfrm>
            <a:off x="3706218" y="8894525"/>
            <a:ext cx="0" cy="530164"/>
          </a:xfrm>
          <a:prstGeom prst="line">
            <a:avLst/>
          </a:prstGeom>
          <a:ln cap="flat" w="28575">
            <a:solidFill>
              <a:srgbClr val="FFFDF8"/>
            </a:solidFill>
            <a:prstDash val="sysDot"/>
            <a:headEnd type="none" len="sm" w="sm"/>
            <a:tailEnd type="arrow" len="sm" w="med"/>
          </a:ln>
        </p:spPr>
      </p:sp>
      <p:sp>
        <p:nvSpPr>
          <p:cNvPr name="AutoShape 17" id="17"/>
          <p:cNvSpPr/>
          <p:nvPr/>
        </p:nvSpPr>
        <p:spPr>
          <a:xfrm flipH="true">
            <a:off x="4502728" y="8882681"/>
            <a:ext cx="0" cy="542008"/>
          </a:xfrm>
          <a:prstGeom prst="line">
            <a:avLst/>
          </a:prstGeom>
          <a:ln cap="flat" w="28575">
            <a:solidFill>
              <a:srgbClr val="FFFDF8"/>
            </a:solidFill>
            <a:prstDash val="sysDot"/>
            <a:headEnd type="none" len="sm" w="sm"/>
            <a:tailEnd type="arrow" len="sm" w="med"/>
          </a:ln>
        </p:spPr>
      </p:sp>
      <p:sp>
        <p:nvSpPr>
          <p:cNvPr name="AutoShape 18" id="18"/>
          <p:cNvSpPr/>
          <p:nvPr/>
        </p:nvSpPr>
        <p:spPr>
          <a:xfrm flipH="true">
            <a:off x="5635959" y="8894525"/>
            <a:ext cx="0" cy="542008"/>
          </a:xfrm>
          <a:prstGeom prst="line">
            <a:avLst/>
          </a:prstGeom>
          <a:ln cap="flat" w="28575">
            <a:solidFill>
              <a:srgbClr val="FFFDF8"/>
            </a:solidFill>
            <a:prstDash val="sysDot"/>
            <a:headEnd type="none" len="sm" w="sm"/>
            <a:tailEnd type="arrow" len="sm" w="med"/>
          </a:ln>
        </p:spPr>
      </p:sp>
      <p:sp>
        <p:nvSpPr>
          <p:cNvPr name="TextBox 19" id="19"/>
          <p:cNvSpPr txBox="true"/>
          <p:nvPr/>
        </p:nvSpPr>
        <p:spPr>
          <a:xfrm rot="0">
            <a:off x="1316284" y="326707"/>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Modelo teórico:</a:t>
            </a:r>
          </a:p>
        </p:txBody>
      </p:sp>
      <p:sp>
        <p:nvSpPr>
          <p:cNvPr name="TextBox 20" id="20"/>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11</a:t>
            </a:r>
          </a:p>
        </p:txBody>
      </p:sp>
      <p:sp>
        <p:nvSpPr>
          <p:cNvPr name="TextBox 21" id="21"/>
          <p:cNvSpPr txBox="true"/>
          <p:nvPr/>
        </p:nvSpPr>
        <p:spPr>
          <a:xfrm rot="0">
            <a:off x="1028700" y="1360297"/>
            <a:ext cx="13338182" cy="522971"/>
          </a:xfrm>
          <a:prstGeom prst="rect">
            <a:avLst/>
          </a:prstGeom>
        </p:spPr>
        <p:txBody>
          <a:bodyPr anchor="t" rtlCol="false" tIns="0" lIns="0" bIns="0" rIns="0">
            <a:spAutoFit/>
          </a:bodyPr>
          <a:lstStyle/>
          <a:p>
            <a:pPr algn="just"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22" id="22"/>
          <p:cNvSpPr txBox="true"/>
          <p:nvPr/>
        </p:nvSpPr>
        <p:spPr>
          <a:xfrm rot="0">
            <a:off x="3176641" y="9464067"/>
            <a:ext cx="1059153" cy="635437"/>
          </a:xfrm>
          <a:prstGeom prst="rect">
            <a:avLst/>
          </a:prstGeom>
        </p:spPr>
        <p:txBody>
          <a:bodyPr anchor="t" rtlCol="false" tIns="0" lIns="0" bIns="0" rIns="0">
            <a:spAutoFit/>
          </a:bodyPr>
          <a:lstStyle/>
          <a:p>
            <a:pPr algn="ctr">
              <a:lnSpc>
                <a:spcPts val="2577"/>
              </a:lnSpc>
            </a:pPr>
            <a:r>
              <a:rPr lang="en-US" sz="1841" i="true">
                <a:solidFill>
                  <a:srgbClr val="000000"/>
                </a:solidFill>
                <a:latin typeface="Open Sans Italics"/>
                <a:ea typeface="Open Sans Italics"/>
                <a:cs typeface="Open Sans Italics"/>
                <a:sym typeface="Open Sans Italics"/>
              </a:rPr>
              <a:t>Masa </a:t>
            </a:r>
          </a:p>
          <a:p>
            <a:pPr algn="ctr">
              <a:lnSpc>
                <a:spcPts val="2577"/>
              </a:lnSpc>
            </a:pPr>
            <a:r>
              <a:rPr lang="en-US" sz="1841" i="true">
                <a:solidFill>
                  <a:srgbClr val="000000"/>
                </a:solidFill>
                <a:latin typeface="Open Sans Italics"/>
                <a:ea typeface="Open Sans Italics"/>
                <a:cs typeface="Open Sans Italics"/>
                <a:sym typeface="Open Sans Italics"/>
              </a:rPr>
              <a:t>del carrito</a:t>
            </a:r>
          </a:p>
        </p:txBody>
      </p:sp>
      <p:sp>
        <p:nvSpPr>
          <p:cNvPr name="TextBox 23" id="23"/>
          <p:cNvSpPr txBox="true"/>
          <p:nvPr/>
        </p:nvSpPr>
        <p:spPr>
          <a:xfrm rot="0">
            <a:off x="4289550" y="9464067"/>
            <a:ext cx="871036" cy="635437"/>
          </a:xfrm>
          <a:prstGeom prst="rect">
            <a:avLst/>
          </a:prstGeom>
        </p:spPr>
        <p:txBody>
          <a:bodyPr anchor="t" rtlCol="false" tIns="0" lIns="0" bIns="0" rIns="0">
            <a:spAutoFit/>
          </a:bodyPr>
          <a:lstStyle/>
          <a:p>
            <a:pPr algn="ctr">
              <a:lnSpc>
                <a:spcPts val="2577"/>
              </a:lnSpc>
            </a:pPr>
            <a:r>
              <a:rPr lang="en-US" sz="1841" i="true">
                <a:solidFill>
                  <a:srgbClr val="000000"/>
                </a:solidFill>
                <a:latin typeface="Open Sans Italics"/>
                <a:ea typeface="Open Sans Italics"/>
                <a:cs typeface="Open Sans Italics"/>
                <a:sym typeface="Open Sans Italics"/>
              </a:rPr>
              <a:t>Masa </a:t>
            </a:r>
          </a:p>
          <a:p>
            <a:pPr algn="ctr">
              <a:lnSpc>
                <a:spcPts val="2577"/>
              </a:lnSpc>
            </a:pPr>
            <a:r>
              <a:rPr lang="en-US" sz="1841" i="true">
                <a:solidFill>
                  <a:srgbClr val="000000"/>
                </a:solidFill>
                <a:latin typeface="Open Sans Italics"/>
                <a:ea typeface="Open Sans Italics"/>
                <a:cs typeface="Open Sans Italics"/>
                <a:sym typeface="Open Sans Italics"/>
              </a:rPr>
              <a:t>colgante</a:t>
            </a:r>
          </a:p>
        </p:txBody>
      </p:sp>
      <p:sp>
        <p:nvSpPr>
          <p:cNvPr name="TextBox 24" id="24"/>
          <p:cNvSpPr txBox="true"/>
          <p:nvPr/>
        </p:nvSpPr>
        <p:spPr>
          <a:xfrm rot="0">
            <a:off x="5229137" y="9464067"/>
            <a:ext cx="845529" cy="635437"/>
          </a:xfrm>
          <a:prstGeom prst="rect">
            <a:avLst/>
          </a:prstGeom>
        </p:spPr>
        <p:txBody>
          <a:bodyPr anchor="t" rtlCol="false" tIns="0" lIns="0" bIns="0" rIns="0">
            <a:spAutoFit/>
          </a:bodyPr>
          <a:lstStyle/>
          <a:p>
            <a:pPr algn="ctr">
              <a:lnSpc>
                <a:spcPts val="2577"/>
              </a:lnSpc>
            </a:pPr>
            <a:r>
              <a:rPr lang="en-US" sz="1841" i="true">
                <a:solidFill>
                  <a:srgbClr val="000000"/>
                </a:solidFill>
                <a:latin typeface="Open Sans Italics"/>
                <a:ea typeface="Open Sans Italics"/>
                <a:cs typeface="Open Sans Italics"/>
                <a:sym typeface="Open Sans Italics"/>
              </a:rPr>
              <a:t>Masa </a:t>
            </a:r>
          </a:p>
          <a:p>
            <a:pPr algn="ctr">
              <a:lnSpc>
                <a:spcPts val="2577"/>
              </a:lnSpc>
            </a:pPr>
            <a:r>
              <a:rPr lang="en-US" sz="1841" i="true">
                <a:solidFill>
                  <a:srgbClr val="000000"/>
                </a:solidFill>
                <a:latin typeface="Open Sans Italics"/>
                <a:ea typeface="Open Sans Italics"/>
                <a:cs typeface="Open Sans Italics"/>
                <a:sym typeface="Open Sans Italics"/>
              </a:rPr>
              <a:t>péndulo</a:t>
            </a:r>
          </a:p>
        </p:txBody>
      </p:sp>
      <p:sp>
        <p:nvSpPr>
          <p:cNvPr name="TextBox 25" id="25"/>
          <p:cNvSpPr txBox="true"/>
          <p:nvPr/>
        </p:nvSpPr>
        <p:spPr>
          <a:xfrm rot="0">
            <a:off x="8799079" y="1589699"/>
            <a:ext cx="4808577" cy="413634"/>
          </a:xfrm>
          <a:prstGeom prst="rect">
            <a:avLst/>
          </a:prstGeom>
        </p:spPr>
        <p:txBody>
          <a:bodyPr anchor="t" rtlCol="false" tIns="0" lIns="0" bIns="0" rIns="0">
            <a:spAutoFit/>
          </a:bodyPr>
          <a:lstStyle/>
          <a:p>
            <a:pPr algn="ctr">
              <a:lnSpc>
                <a:spcPts val="3451"/>
              </a:lnSpc>
            </a:pPr>
            <a:r>
              <a:rPr lang="en-US" b="true" sz="2465" i="true">
                <a:solidFill>
                  <a:srgbClr val="FFFDF8"/>
                </a:solidFill>
                <a:latin typeface="Open Sans Bold Italics"/>
                <a:ea typeface="Open Sans Bold Italics"/>
                <a:cs typeface="Open Sans Bold Italics"/>
                <a:sym typeface="Open Sans Bold Italics"/>
              </a:rPr>
              <a:t>Análisis de Fuerzas Tangenciales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4547218" cy="0"/>
          </a:xfrm>
          <a:prstGeom prst="line">
            <a:avLst/>
          </a:prstGeom>
          <a:ln cap="rnd" w="47625">
            <a:solidFill>
              <a:srgbClr val="FFFDF8"/>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0400309" y="5584926"/>
            <a:ext cx="6242048" cy="4212952"/>
          </a:xfrm>
          <a:custGeom>
            <a:avLst/>
            <a:gdLst/>
            <a:ahLst/>
            <a:cxnLst/>
            <a:rect r="r" b="b" t="t" l="l"/>
            <a:pathLst>
              <a:path h="4212952" w="6242048">
                <a:moveTo>
                  <a:pt x="0" y="0"/>
                </a:moveTo>
                <a:lnTo>
                  <a:pt x="6242048" y="0"/>
                </a:lnTo>
                <a:lnTo>
                  <a:pt x="6242048" y="4212953"/>
                </a:lnTo>
                <a:lnTo>
                  <a:pt x="0" y="4212953"/>
                </a:lnTo>
                <a:lnTo>
                  <a:pt x="0" y="0"/>
                </a:lnTo>
                <a:close/>
              </a:path>
            </a:pathLst>
          </a:custGeom>
          <a:blipFill>
            <a:blip r:embed="rId3"/>
            <a:stretch>
              <a:fillRect l="0" t="0" r="0" b="0"/>
            </a:stretch>
          </a:blipFill>
        </p:spPr>
      </p:sp>
      <p:sp>
        <p:nvSpPr>
          <p:cNvPr name="Freeform 8" id="8"/>
          <p:cNvSpPr/>
          <p:nvPr/>
        </p:nvSpPr>
        <p:spPr>
          <a:xfrm flipH="false" flipV="false" rot="0">
            <a:off x="1813242" y="3396489"/>
            <a:ext cx="6621127" cy="4487348"/>
          </a:xfrm>
          <a:custGeom>
            <a:avLst/>
            <a:gdLst/>
            <a:ahLst/>
            <a:cxnLst/>
            <a:rect r="r" b="b" t="t" l="l"/>
            <a:pathLst>
              <a:path h="4487348" w="6621127">
                <a:moveTo>
                  <a:pt x="0" y="0"/>
                </a:moveTo>
                <a:lnTo>
                  <a:pt x="6621127" y="0"/>
                </a:lnTo>
                <a:lnTo>
                  <a:pt x="6621127" y="4487348"/>
                </a:lnTo>
                <a:lnTo>
                  <a:pt x="0" y="4487348"/>
                </a:lnTo>
                <a:lnTo>
                  <a:pt x="0" y="0"/>
                </a:lnTo>
                <a:close/>
              </a:path>
            </a:pathLst>
          </a:custGeom>
          <a:blipFill>
            <a:blip r:embed="rId4"/>
            <a:stretch>
              <a:fillRect l="0" t="0" r="0" b="0"/>
            </a:stretch>
          </a:blipFill>
        </p:spPr>
      </p:sp>
      <p:sp>
        <p:nvSpPr>
          <p:cNvPr name="Freeform 9" id="9"/>
          <p:cNvSpPr/>
          <p:nvPr/>
        </p:nvSpPr>
        <p:spPr>
          <a:xfrm flipH="false" flipV="false" rot="0">
            <a:off x="10613861" y="832134"/>
            <a:ext cx="5707581" cy="3878939"/>
          </a:xfrm>
          <a:custGeom>
            <a:avLst/>
            <a:gdLst/>
            <a:ahLst/>
            <a:cxnLst/>
            <a:rect r="r" b="b" t="t" l="l"/>
            <a:pathLst>
              <a:path h="3878939" w="5707581">
                <a:moveTo>
                  <a:pt x="0" y="0"/>
                </a:moveTo>
                <a:lnTo>
                  <a:pt x="5707581" y="0"/>
                </a:lnTo>
                <a:lnTo>
                  <a:pt x="5707581" y="3878939"/>
                </a:lnTo>
                <a:lnTo>
                  <a:pt x="0" y="3878939"/>
                </a:lnTo>
                <a:lnTo>
                  <a:pt x="0" y="0"/>
                </a:lnTo>
                <a:close/>
              </a:path>
            </a:pathLst>
          </a:custGeom>
          <a:blipFill>
            <a:blip r:embed="rId5"/>
            <a:stretch>
              <a:fillRect l="0" t="0" r="0" b="0"/>
            </a:stretch>
          </a:blipFill>
        </p:spPr>
      </p:sp>
      <p:sp>
        <p:nvSpPr>
          <p:cNvPr name="TextBox 10" id="10"/>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Modelo teórico:</a:t>
            </a:r>
          </a:p>
        </p:txBody>
      </p:sp>
      <p:sp>
        <p:nvSpPr>
          <p:cNvPr name="TextBox 11" id="11"/>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12</a:t>
            </a:r>
          </a:p>
        </p:txBody>
      </p:sp>
      <p:sp>
        <p:nvSpPr>
          <p:cNvPr name="TextBox 12" id="12"/>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3" id="13"/>
          <p:cNvSpPr txBox="true"/>
          <p:nvPr/>
        </p:nvSpPr>
        <p:spPr>
          <a:xfrm rot="0">
            <a:off x="1421333" y="2873518"/>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1:</a:t>
            </a:r>
          </a:p>
        </p:txBody>
      </p:sp>
      <p:sp>
        <p:nvSpPr>
          <p:cNvPr name="TextBox 14" id="14"/>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5" id="15"/>
          <p:cNvSpPr txBox="true"/>
          <p:nvPr/>
        </p:nvSpPr>
        <p:spPr>
          <a:xfrm rot="0">
            <a:off x="9835527" y="300360"/>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2:</a:t>
            </a:r>
          </a:p>
        </p:txBody>
      </p:sp>
      <p:sp>
        <p:nvSpPr>
          <p:cNvPr name="TextBox 16" id="16"/>
          <p:cNvSpPr txBox="true"/>
          <p:nvPr/>
        </p:nvSpPr>
        <p:spPr>
          <a:xfrm rot="0">
            <a:off x="9973266" y="4966706"/>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3:</a:t>
            </a:r>
          </a:p>
        </p:txBody>
      </p:sp>
      <p:sp>
        <p:nvSpPr>
          <p:cNvPr name="TextBox 17" id="17"/>
          <p:cNvSpPr txBox="true"/>
          <p:nvPr/>
        </p:nvSpPr>
        <p:spPr>
          <a:xfrm rot="0">
            <a:off x="14664134" y="9721851"/>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m=0.739 [Kg]</a:t>
            </a:r>
          </a:p>
        </p:txBody>
      </p:sp>
      <p:sp>
        <p:nvSpPr>
          <p:cNvPr name="TextBox 18" id="18"/>
          <p:cNvSpPr txBox="true"/>
          <p:nvPr/>
        </p:nvSpPr>
        <p:spPr>
          <a:xfrm rot="0">
            <a:off x="14378580" y="4662726"/>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m=0.384 [Kg]</a:t>
            </a:r>
          </a:p>
        </p:txBody>
      </p:sp>
      <p:sp>
        <p:nvSpPr>
          <p:cNvPr name="TextBox 19" id="19"/>
          <p:cNvSpPr txBox="true"/>
          <p:nvPr/>
        </p:nvSpPr>
        <p:spPr>
          <a:xfrm rot="0">
            <a:off x="6605471" y="8064812"/>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m=0.355 [Kg]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Freeform 2" id="2"/>
          <p:cNvSpPr/>
          <p:nvPr/>
        </p:nvSpPr>
        <p:spPr>
          <a:xfrm flipH="false" flipV="false" rot="0">
            <a:off x="15808668" y="8345093"/>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Freeform 3" id="3"/>
          <p:cNvSpPr/>
          <p:nvPr/>
        </p:nvSpPr>
        <p:spPr>
          <a:xfrm flipH="false" flipV="false" rot="0">
            <a:off x="1233010" y="2671439"/>
            <a:ext cx="7233990" cy="5194877"/>
          </a:xfrm>
          <a:custGeom>
            <a:avLst/>
            <a:gdLst/>
            <a:ahLst/>
            <a:cxnLst/>
            <a:rect r="r" b="b" t="t" l="l"/>
            <a:pathLst>
              <a:path h="5194877" w="7233990">
                <a:moveTo>
                  <a:pt x="0" y="0"/>
                </a:moveTo>
                <a:lnTo>
                  <a:pt x="7233990" y="0"/>
                </a:lnTo>
                <a:lnTo>
                  <a:pt x="7233990" y="5194878"/>
                </a:lnTo>
                <a:lnTo>
                  <a:pt x="0" y="5194878"/>
                </a:lnTo>
                <a:lnTo>
                  <a:pt x="0" y="0"/>
                </a:lnTo>
                <a:close/>
              </a:path>
            </a:pathLst>
          </a:custGeom>
          <a:blipFill>
            <a:blip r:embed="rId3"/>
            <a:stretch>
              <a:fillRect l="-27171" t="0" r="-54703" b="-20185"/>
            </a:stretch>
          </a:blipFill>
        </p:spPr>
      </p:sp>
      <p:sp>
        <p:nvSpPr>
          <p:cNvPr name="Freeform 4" id="4"/>
          <p:cNvSpPr/>
          <p:nvPr/>
        </p:nvSpPr>
        <p:spPr>
          <a:xfrm flipH="false" flipV="false" rot="0">
            <a:off x="8788062" y="2671439"/>
            <a:ext cx="8650434" cy="5194877"/>
          </a:xfrm>
          <a:custGeom>
            <a:avLst/>
            <a:gdLst/>
            <a:ahLst/>
            <a:cxnLst/>
            <a:rect r="r" b="b" t="t" l="l"/>
            <a:pathLst>
              <a:path h="5194877" w="8650434">
                <a:moveTo>
                  <a:pt x="0" y="0"/>
                </a:moveTo>
                <a:lnTo>
                  <a:pt x="8650435" y="0"/>
                </a:lnTo>
                <a:lnTo>
                  <a:pt x="8650435" y="5194878"/>
                </a:lnTo>
                <a:lnTo>
                  <a:pt x="0" y="5194878"/>
                </a:lnTo>
                <a:lnTo>
                  <a:pt x="0" y="0"/>
                </a:lnTo>
                <a:close/>
              </a:path>
            </a:pathLst>
          </a:custGeom>
          <a:blipFill>
            <a:blip r:embed="rId4"/>
            <a:stretch>
              <a:fillRect l="0" t="0" r="-15487" b="0"/>
            </a:stretch>
          </a:blipFill>
        </p:spPr>
      </p:sp>
      <p:sp>
        <p:nvSpPr>
          <p:cNvPr name="TextBox 5" id="5"/>
          <p:cNvSpPr txBox="true"/>
          <p:nvPr/>
        </p:nvSpPr>
        <p:spPr>
          <a:xfrm rot="0">
            <a:off x="1028700" y="826764"/>
            <a:ext cx="11598293" cy="880111"/>
          </a:xfrm>
          <a:prstGeom prst="rect">
            <a:avLst/>
          </a:prstGeom>
        </p:spPr>
        <p:txBody>
          <a:bodyPr anchor="t" rtlCol="false" tIns="0" lIns="0" bIns="0" rIns="0">
            <a:spAutoFit/>
          </a:bodyPr>
          <a:lstStyle/>
          <a:p>
            <a:pPr algn="l">
              <a:lnSpc>
                <a:spcPts val="7139"/>
              </a:lnSpc>
              <a:spcBef>
                <a:spcPct val="0"/>
              </a:spcBef>
            </a:pPr>
            <a:r>
              <a:rPr lang="en-US" sz="5099">
                <a:solidFill>
                  <a:srgbClr val="FFFFFF"/>
                </a:solidFill>
                <a:latin typeface="Yeseva One"/>
                <a:ea typeface="Yeseva One"/>
                <a:cs typeface="Yeseva One"/>
                <a:sym typeface="Yeseva One"/>
              </a:rPr>
              <a:t>MONTAJE EXPERIMENTAL</a:t>
            </a:r>
          </a:p>
        </p:txBody>
      </p:sp>
      <p:sp>
        <p:nvSpPr>
          <p:cNvPr name="TextBox 6" id="6"/>
          <p:cNvSpPr txBox="true"/>
          <p:nvPr/>
        </p:nvSpPr>
        <p:spPr>
          <a:xfrm rot="0">
            <a:off x="1472316" y="8128010"/>
            <a:ext cx="6755378" cy="396067"/>
          </a:xfrm>
          <a:prstGeom prst="rect">
            <a:avLst/>
          </a:prstGeom>
        </p:spPr>
        <p:txBody>
          <a:bodyPr anchor="t" rtlCol="false" tIns="0" lIns="0" bIns="0" rIns="0">
            <a:spAutoFit/>
          </a:bodyPr>
          <a:lstStyle/>
          <a:p>
            <a:pPr algn="ctr">
              <a:lnSpc>
                <a:spcPts val="3369"/>
              </a:lnSpc>
            </a:pPr>
            <a:r>
              <a:rPr lang="en-US" b="true" sz="2406" i="true">
                <a:solidFill>
                  <a:srgbClr val="FFFDF8"/>
                </a:solidFill>
                <a:latin typeface="Open Sans Bold Italics"/>
                <a:ea typeface="Open Sans Bold Italics"/>
                <a:cs typeface="Open Sans Bold Italics"/>
                <a:sym typeface="Open Sans Bold Italics"/>
              </a:rPr>
              <a:t>Diseño del montaje realizado en Tinkercad.</a:t>
            </a:r>
          </a:p>
        </p:txBody>
      </p:sp>
      <p:sp>
        <p:nvSpPr>
          <p:cNvPr name="TextBox 7" id="7"/>
          <p:cNvSpPr txBox="true"/>
          <p:nvPr/>
        </p:nvSpPr>
        <p:spPr>
          <a:xfrm rot="0">
            <a:off x="9438011" y="8075853"/>
            <a:ext cx="7363664" cy="481330"/>
          </a:xfrm>
          <a:prstGeom prst="rect">
            <a:avLst/>
          </a:prstGeom>
        </p:spPr>
        <p:txBody>
          <a:bodyPr anchor="t" rtlCol="false" tIns="0" lIns="0" bIns="0" rIns="0">
            <a:spAutoFit/>
          </a:bodyPr>
          <a:lstStyle/>
          <a:p>
            <a:pPr algn="ctr">
              <a:lnSpc>
                <a:spcPts val="3920"/>
              </a:lnSpc>
            </a:pPr>
            <a:r>
              <a:rPr lang="en-US" b="true" sz="2800" i="true">
                <a:solidFill>
                  <a:srgbClr val="FFFDF8"/>
                </a:solidFill>
                <a:latin typeface="Open Sans Bold Italics"/>
                <a:ea typeface="Open Sans Bold Italics"/>
                <a:cs typeface="Open Sans Bold Italics"/>
                <a:sym typeface="Open Sans Bold Italics"/>
              </a:rPr>
              <a:t>Montaje Final.</a:t>
            </a:r>
          </a:p>
        </p:txBody>
      </p:sp>
      <p:sp>
        <p:nvSpPr>
          <p:cNvPr name="TextBox 8" id="8"/>
          <p:cNvSpPr txBox="true"/>
          <p:nvPr/>
        </p:nvSpPr>
        <p:spPr>
          <a:xfrm rot="0">
            <a:off x="1028700" y="1935475"/>
            <a:ext cx="3671888" cy="613409"/>
          </a:xfrm>
          <a:prstGeom prst="rect">
            <a:avLst/>
          </a:prstGeom>
        </p:spPr>
        <p:txBody>
          <a:bodyPr anchor="t" rtlCol="false" tIns="0" lIns="0" bIns="0" rIns="0">
            <a:spAutoFit/>
          </a:bodyPr>
          <a:lstStyle/>
          <a:p>
            <a:pPr algn="l" marL="777248" indent="-388624" lvl="1">
              <a:lnSpc>
                <a:spcPts val="5040"/>
              </a:lnSpc>
              <a:buFont typeface="Arial"/>
              <a:buChar char="•"/>
            </a:pPr>
            <a:r>
              <a:rPr lang="en-US" sz="3600" i="true">
                <a:solidFill>
                  <a:srgbClr val="FFFDF8"/>
                </a:solidFill>
                <a:latin typeface="Open Sans Italics"/>
                <a:ea typeface="Open Sans Italics"/>
                <a:cs typeface="Open Sans Italics"/>
                <a:sym typeface="Open Sans Italics"/>
              </a:rPr>
              <a:t>Marco Inercial</a:t>
            </a:r>
          </a:p>
        </p:txBody>
      </p:sp>
      <p:sp>
        <p:nvSpPr>
          <p:cNvPr name="AutoShape 9" id="9"/>
          <p:cNvSpPr/>
          <p:nvPr/>
        </p:nvSpPr>
        <p:spPr>
          <a:xfrm>
            <a:off x="1028700" y="1718898"/>
            <a:ext cx="8435058" cy="0"/>
          </a:xfrm>
          <a:prstGeom prst="line">
            <a:avLst/>
          </a:prstGeom>
          <a:ln cap="rnd" w="47625">
            <a:solidFill>
              <a:srgbClr val="ECBE70"/>
            </a:solidFill>
            <a:prstDash val="solid"/>
            <a:headEnd type="none" len="sm" w="sm"/>
            <a:tailEnd type="none" len="sm" w="sm"/>
          </a:ln>
        </p:spPr>
      </p:sp>
      <p:sp>
        <p:nvSpPr>
          <p:cNvPr name="TextBox 10" id="10"/>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Freeform 2" id="2"/>
          <p:cNvSpPr/>
          <p:nvPr/>
        </p:nvSpPr>
        <p:spPr>
          <a:xfrm flipH="false" flipV="false" rot="0">
            <a:off x="15890229" y="8742413"/>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Freeform 3" id="3"/>
          <p:cNvSpPr/>
          <p:nvPr/>
        </p:nvSpPr>
        <p:spPr>
          <a:xfrm flipH="false" flipV="false" rot="0">
            <a:off x="1013362" y="2962361"/>
            <a:ext cx="7142937" cy="4834012"/>
          </a:xfrm>
          <a:custGeom>
            <a:avLst/>
            <a:gdLst/>
            <a:ahLst/>
            <a:cxnLst/>
            <a:rect r="r" b="b" t="t" l="l"/>
            <a:pathLst>
              <a:path h="4834012" w="7142937">
                <a:moveTo>
                  <a:pt x="0" y="0"/>
                </a:moveTo>
                <a:lnTo>
                  <a:pt x="7142937" y="0"/>
                </a:lnTo>
                <a:lnTo>
                  <a:pt x="7142937" y="4834012"/>
                </a:lnTo>
                <a:lnTo>
                  <a:pt x="0" y="4834012"/>
                </a:lnTo>
                <a:lnTo>
                  <a:pt x="0" y="0"/>
                </a:lnTo>
                <a:close/>
              </a:path>
            </a:pathLst>
          </a:custGeom>
          <a:blipFill>
            <a:blip r:embed="rId3"/>
            <a:stretch>
              <a:fillRect l="-34982" t="-28530" r="-46706" b="0"/>
            </a:stretch>
          </a:blipFill>
        </p:spPr>
      </p:sp>
      <p:sp>
        <p:nvSpPr>
          <p:cNvPr name="Freeform 4" id="4"/>
          <p:cNvSpPr/>
          <p:nvPr/>
        </p:nvSpPr>
        <p:spPr>
          <a:xfrm flipH="false" flipV="false" rot="0">
            <a:off x="8643917" y="2748172"/>
            <a:ext cx="9150766" cy="5147306"/>
          </a:xfrm>
          <a:custGeom>
            <a:avLst/>
            <a:gdLst/>
            <a:ahLst/>
            <a:cxnLst/>
            <a:rect r="r" b="b" t="t" l="l"/>
            <a:pathLst>
              <a:path h="5147306" w="9150766">
                <a:moveTo>
                  <a:pt x="0" y="0"/>
                </a:moveTo>
                <a:lnTo>
                  <a:pt x="9150765" y="0"/>
                </a:lnTo>
                <a:lnTo>
                  <a:pt x="9150765" y="5147306"/>
                </a:lnTo>
                <a:lnTo>
                  <a:pt x="0" y="5147306"/>
                </a:lnTo>
                <a:lnTo>
                  <a:pt x="0" y="0"/>
                </a:lnTo>
                <a:close/>
              </a:path>
            </a:pathLst>
          </a:custGeom>
          <a:blipFill>
            <a:blip r:embed="rId4"/>
            <a:stretch>
              <a:fillRect l="0" t="0" r="0" b="0"/>
            </a:stretch>
          </a:blipFill>
        </p:spPr>
      </p:sp>
      <p:sp>
        <p:nvSpPr>
          <p:cNvPr name="TextBox 5" id="5"/>
          <p:cNvSpPr txBox="true"/>
          <p:nvPr/>
        </p:nvSpPr>
        <p:spPr>
          <a:xfrm rot="0">
            <a:off x="1028700" y="536257"/>
            <a:ext cx="11598293" cy="880111"/>
          </a:xfrm>
          <a:prstGeom prst="rect">
            <a:avLst/>
          </a:prstGeom>
        </p:spPr>
        <p:txBody>
          <a:bodyPr anchor="t" rtlCol="false" tIns="0" lIns="0" bIns="0" rIns="0">
            <a:spAutoFit/>
          </a:bodyPr>
          <a:lstStyle/>
          <a:p>
            <a:pPr algn="l">
              <a:lnSpc>
                <a:spcPts val="7139"/>
              </a:lnSpc>
              <a:spcBef>
                <a:spcPct val="0"/>
              </a:spcBef>
            </a:pPr>
            <a:r>
              <a:rPr lang="en-US" sz="5099">
                <a:solidFill>
                  <a:srgbClr val="5A7377"/>
                </a:solidFill>
                <a:latin typeface="Yeseva One"/>
                <a:ea typeface="Yeseva One"/>
                <a:cs typeface="Yeseva One"/>
                <a:sym typeface="Yeseva One"/>
              </a:rPr>
              <a:t>MONTAJE EXPERIMENTAL</a:t>
            </a:r>
          </a:p>
        </p:txBody>
      </p:sp>
      <p:sp>
        <p:nvSpPr>
          <p:cNvPr name="TextBox 6" id="6"/>
          <p:cNvSpPr txBox="true"/>
          <p:nvPr/>
        </p:nvSpPr>
        <p:spPr>
          <a:xfrm rot="0">
            <a:off x="1207141" y="8230920"/>
            <a:ext cx="6755378" cy="396067"/>
          </a:xfrm>
          <a:prstGeom prst="rect">
            <a:avLst/>
          </a:prstGeom>
        </p:spPr>
        <p:txBody>
          <a:bodyPr anchor="t" rtlCol="false" tIns="0" lIns="0" bIns="0" rIns="0">
            <a:spAutoFit/>
          </a:bodyPr>
          <a:lstStyle/>
          <a:p>
            <a:pPr algn="ctr">
              <a:lnSpc>
                <a:spcPts val="3369"/>
              </a:lnSpc>
            </a:pPr>
            <a:r>
              <a:rPr lang="en-US" b="true" sz="2406" i="true">
                <a:solidFill>
                  <a:srgbClr val="5A7377"/>
                </a:solidFill>
                <a:latin typeface="Open Sans Bold Italics"/>
                <a:ea typeface="Open Sans Bold Italics"/>
                <a:cs typeface="Open Sans Bold Italics"/>
                <a:sym typeface="Open Sans Bold Italics"/>
              </a:rPr>
              <a:t>Diseño del montaje realizado en Tinkercad.</a:t>
            </a:r>
          </a:p>
        </p:txBody>
      </p:sp>
      <p:sp>
        <p:nvSpPr>
          <p:cNvPr name="TextBox 7" id="7"/>
          <p:cNvSpPr txBox="true"/>
          <p:nvPr/>
        </p:nvSpPr>
        <p:spPr>
          <a:xfrm rot="0">
            <a:off x="9172836" y="8178764"/>
            <a:ext cx="7363664" cy="481330"/>
          </a:xfrm>
          <a:prstGeom prst="rect">
            <a:avLst/>
          </a:prstGeom>
        </p:spPr>
        <p:txBody>
          <a:bodyPr anchor="t" rtlCol="false" tIns="0" lIns="0" bIns="0" rIns="0">
            <a:spAutoFit/>
          </a:bodyPr>
          <a:lstStyle/>
          <a:p>
            <a:pPr algn="ctr">
              <a:lnSpc>
                <a:spcPts val="3920"/>
              </a:lnSpc>
            </a:pPr>
            <a:r>
              <a:rPr lang="en-US" b="true" sz="2800" i="true">
                <a:solidFill>
                  <a:srgbClr val="5A7377"/>
                </a:solidFill>
                <a:latin typeface="Open Sans Bold Italics"/>
                <a:ea typeface="Open Sans Bold Italics"/>
                <a:cs typeface="Open Sans Bold Italics"/>
                <a:sym typeface="Open Sans Bold Italics"/>
              </a:rPr>
              <a:t>Montaje Final.</a:t>
            </a:r>
          </a:p>
        </p:txBody>
      </p:sp>
      <p:sp>
        <p:nvSpPr>
          <p:cNvPr name="TextBox 8" id="8"/>
          <p:cNvSpPr txBox="true"/>
          <p:nvPr/>
        </p:nvSpPr>
        <p:spPr>
          <a:xfrm rot="0">
            <a:off x="1028700" y="1624804"/>
            <a:ext cx="4974550" cy="695959"/>
          </a:xfrm>
          <a:prstGeom prst="rect">
            <a:avLst/>
          </a:prstGeom>
        </p:spPr>
        <p:txBody>
          <a:bodyPr anchor="t" rtlCol="false" tIns="0" lIns="0" bIns="0" rIns="0">
            <a:spAutoFit/>
          </a:bodyPr>
          <a:lstStyle/>
          <a:p>
            <a:pPr algn="l" marL="885195" indent="-442598" lvl="1">
              <a:lnSpc>
                <a:spcPts val="5740"/>
              </a:lnSpc>
              <a:buFont typeface="Arial"/>
              <a:buChar char="•"/>
            </a:pPr>
            <a:r>
              <a:rPr lang="en-US" sz="4100" i="true">
                <a:solidFill>
                  <a:srgbClr val="5A7377"/>
                </a:solidFill>
                <a:latin typeface="Open Sans Italics"/>
                <a:ea typeface="Open Sans Italics"/>
                <a:cs typeface="Open Sans Italics"/>
                <a:sym typeface="Open Sans Italics"/>
              </a:rPr>
              <a:t>Marco No Inercial</a:t>
            </a:r>
          </a:p>
        </p:txBody>
      </p:sp>
      <p:sp>
        <p:nvSpPr>
          <p:cNvPr name="AutoShape 9" id="9"/>
          <p:cNvSpPr/>
          <p:nvPr/>
        </p:nvSpPr>
        <p:spPr>
          <a:xfrm flipV="true">
            <a:off x="1028700" y="1392556"/>
            <a:ext cx="8435058" cy="0"/>
          </a:xfrm>
          <a:prstGeom prst="line">
            <a:avLst/>
          </a:prstGeom>
          <a:ln cap="rnd" w="47625">
            <a:solidFill>
              <a:srgbClr val="ECBE70"/>
            </a:solidFill>
            <a:prstDash val="solid"/>
            <a:headEnd type="none" len="sm" w="sm"/>
            <a:tailEnd type="none" len="sm" w="sm"/>
          </a:ln>
        </p:spPr>
      </p:sp>
      <p:sp>
        <p:nvSpPr>
          <p:cNvPr name="TextBox 10" id="10"/>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5A7377"/>
                </a:solidFill>
                <a:latin typeface="Source Serif Pro"/>
                <a:ea typeface="Source Serif Pro"/>
                <a:cs typeface="Source Serif Pro"/>
                <a:sym typeface="Source Serif Pro"/>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028700" y="536257"/>
            <a:ext cx="11598293" cy="880111"/>
          </a:xfrm>
          <a:prstGeom prst="rect">
            <a:avLst/>
          </a:prstGeom>
        </p:spPr>
        <p:txBody>
          <a:bodyPr anchor="t" rtlCol="false" tIns="0" lIns="0" bIns="0" rIns="0">
            <a:spAutoFit/>
          </a:bodyPr>
          <a:lstStyle/>
          <a:p>
            <a:pPr algn="l">
              <a:lnSpc>
                <a:spcPts val="7139"/>
              </a:lnSpc>
              <a:spcBef>
                <a:spcPct val="0"/>
              </a:spcBef>
            </a:pPr>
            <a:r>
              <a:rPr lang="en-US" sz="5099">
                <a:solidFill>
                  <a:srgbClr val="5A7377"/>
                </a:solidFill>
                <a:latin typeface="Yeseva One"/>
                <a:ea typeface="Yeseva One"/>
                <a:cs typeface="Yeseva One"/>
                <a:sym typeface="Yeseva One"/>
              </a:rPr>
              <a:t>TRATAMIENTO EXPERIMENTAL:</a:t>
            </a:r>
          </a:p>
        </p:txBody>
      </p:sp>
      <p:sp>
        <p:nvSpPr>
          <p:cNvPr name="AutoShape 3" id="3"/>
          <p:cNvSpPr/>
          <p:nvPr/>
        </p:nvSpPr>
        <p:spPr>
          <a:xfrm flipV="true">
            <a:off x="1028700" y="1392556"/>
            <a:ext cx="8435058" cy="0"/>
          </a:xfrm>
          <a:prstGeom prst="line">
            <a:avLst/>
          </a:prstGeom>
          <a:ln cap="rnd" w="47625">
            <a:solidFill>
              <a:srgbClr val="ECBE70"/>
            </a:solidFill>
            <a:prstDash val="solid"/>
            <a:headEnd type="none" len="sm" w="sm"/>
            <a:tailEnd type="none" len="sm" w="sm"/>
          </a:ln>
        </p:spPr>
      </p:sp>
      <p:pic>
        <p:nvPicPr>
          <p:cNvPr name="Picture 4" id="4">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12574" b="0"/>
          <a:stretch>
            <a:fillRect/>
          </a:stretch>
        </p:blipFill>
        <p:spPr>
          <a:xfrm flipH="false" flipV="false" rot="0">
            <a:off x="1490708" y="3662296"/>
            <a:ext cx="6844065" cy="4412719"/>
          </a:xfrm>
          <a:prstGeom prst="rect">
            <a:avLst/>
          </a:prstGeom>
        </p:spPr>
      </p:pic>
      <p:sp>
        <p:nvSpPr>
          <p:cNvPr name="Freeform 5" id="5"/>
          <p:cNvSpPr/>
          <p:nvPr/>
        </p:nvSpPr>
        <p:spPr>
          <a:xfrm flipH="false" flipV="false" rot="0">
            <a:off x="9108686" y="3550131"/>
            <a:ext cx="8577978" cy="4524883"/>
          </a:xfrm>
          <a:custGeom>
            <a:avLst/>
            <a:gdLst/>
            <a:ahLst/>
            <a:cxnLst/>
            <a:rect r="r" b="b" t="t" l="l"/>
            <a:pathLst>
              <a:path h="4524883" w="8577978">
                <a:moveTo>
                  <a:pt x="0" y="0"/>
                </a:moveTo>
                <a:lnTo>
                  <a:pt x="8577978" y="0"/>
                </a:lnTo>
                <a:lnTo>
                  <a:pt x="8577978" y="4524884"/>
                </a:lnTo>
                <a:lnTo>
                  <a:pt x="0" y="4524884"/>
                </a:lnTo>
                <a:lnTo>
                  <a:pt x="0" y="0"/>
                </a:lnTo>
                <a:close/>
              </a:path>
            </a:pathLst>
          </a:custGeom>
          <a:blipFill>
            <a:blip r:embed="rId5"/>
            <a:stretch>
              <a:fillRect l="0" t="0" r="0" b="0"/>
            </a:stretch>
          </a:blipFill>
        </p:spPr>
      </p:sp>
      <p:sp>
        <p:nvSpPr>
          <p:cNvPr name="TextBox 6" id="6"/>
          <p:cNvSpPr txBox="true"/>
          <p:nvPr/>
        </p:nvSpPr>
        <p:spPr>
          <a:xfrm rot="0">
            <a:off x="1240853" y="2488063"/>
            <a:ext cx="3671888" cy="613409"/>
          </a:xfrm>
          <a:prstGeom prst="rect">
            <a:avLst/>
          </a:prstGeom>
        </p:spPr>
        <p:txBody>
          <a:bodyPr anchor="t" rtlCol="false" tIns="0" lIns="0" bIns="0" rIns="0">
            <a:spAutoFit/>
          </a:bodyPr>
          <a:lstStyle/>
          <a:p>
            <a:pPr algn="l" marL="777248" indent="-388624" lvl="1">
              <a:lnSpc>
                <a:spcPts val="5040"/>
              </a:lnSpc>
              <a:buFont typeface="Arial"/>
              <a:buChar char="•"/>
            </a:pPr>
            <a:r>
              <a:rPr lang="en-US" sz="3600" i="true">
                <a:solidFill>
                  <a:srgbClr val="5A7377"/>
                </a:solidFill>
                <a:latin typeface="Open Sans Italics"/>
                <a:ea typeface="Open Sans Italics"/>
                <a:cs typeface="Open Sans Italics"/>
                <a:sym typeface="Open Sans Italics"/>
              </a:rPr>
              <a:t>Marco Inercial</a:t>
            </a:r>
          </a:p>
        </p:txBody>
      </p:sp>
      <p:sp>
        <p:nvSpPr>
          <p:cNvPr name="TextBox 7" id="7"/>
          <p:cNvSpPr txBox="true"/>
          <p:nvPr/>
        </p:nvSpPr>
        <p:spPr>
          <a:xfrm rot="0">
            <a:off x="3076796" y="8008340"/>
            <a:ext cx="3755708" cy="580390"/>
          </a:xfrm>
          <a:prstGeom prst="rect">
            <a:avLst/>
          </a:prstGeom>
        </p:spPr>
        <p:txBody>
          <a:bodyPr anchor="t" rtlCol="false" tIns="0" lIns="0" bIns="0" rIns="0">
            <a:spAutoFit/>
          </a:bodyPr>
          <a:lstStyle/>
          <a:p>
            <a:pPr algn="ctr">
              <a:lnSpc>
                <a:spcPts val="4759"/>
              </a:lnSpc>
            </a:pPr>
            <a:r>
              <a:rPr lang="en-US" sz="3399" i="true">
                <a:solidFill>
                  <a:srgbClr val="000000"/>
                </a:solidFill>
                <a:latin typeface="Open Sans Italics"/>
                <a:ea typeface="Open Sans Italics"/>
                <a:cs typeface="Open Sans Italics"/>
                <a:sym typeface="Open Sans Italics"/>
              </a:rPr>
              <a:t>Fragmento de vídeo</a:t>
            </a:r>
          </a:p>
        </p:txBody>
      </p:sp>
      <p:sp>
        <p:nvSpPr>
          <p:cNvPr name="TextBox 8" id="8"/>
          <p:cNvSpPr txBox="true"/>
          <p:nvPr/>
        </p:nvSpPr>
        <p:spPr>
          <a:xfrm rot="0">
            <a:off x="9153315" y="8008340"/>
            <a:ext cx="8101727" cy="580390"/>
          </a:xfrm>
          <a:prstGeom prst="rect">
            <a:avLst/>
          </a:prstGeom>
        </p:spPr>
        <p:txBody>
          <a:bodyPr anchor="t" rtlCol="false" tIns="0" lIns="0" bIns="0" rIns="0">
            <a:spAutoFit/>
          </a:bodyPr>
          <a:lstStyle/>
          <a:p>
            <a:pPr algn="ctr">
              <a:lnSpc>
                <a:spcPts val="4759"/>
              </a:lnSpc>
            </a:pPr>
            <a:r>
              <a:rPr lang="en-US" sz="3399" i="true">
                <a:solidFill>
                  <a:srgbClr val="000000"/>
                </a:solidFill>
                <a:latin typeface="Open Sans Italics"/>
                <a:ea typeface="Open Sans Italics"/>
                <a:cs typeface="Open Sans Italics"/>
                <a:sym typeface="Open Sans Italics"/>
              </a:rPr>
              <a:t>Análisis de movimiento a través de Tracker</a:t>
            </a:r>
          </a:p>
        </p:txBody>
      </p:sp>
      <p:pic>
        <p:nvPicPr>
          <p:cNvPr name="Picture 9" id="9"/>
          <p:cNvPicPr>
            <a:picLocks noChangeAspect="true"/>
          </p:cNvPicPr>
          <p:nvPr/>
        </p:nvPicPr>
        <p:blipFill>
          <a:blip r:embed="rId6"/>
          <a:stretch>
            <a:fillRect/>
          </a:stretch>
        </p:blipFill>
        <p:spPr>
          <a:xfrm rot="0">
            <a:off x="14492518" y="817352"/>
            <a:ext cx="2536178" cy="2536178"/>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14:trim st="19690.0000" end="9628.1180"/>
                </p14:media>
              </p:ext>
            </p:extLst>
          </p:nvPr>
        </p:nvPicPr>
        <p:blipFill>
          <a:blip r:embed="rId2"/>
          <a:srcRect l="0" t="646" r="0" b="646"/>
          <a:stretch>
            <a:fillRect/>
          </a:stretch>
        </p:blipFill>
        <p:spPr>
          <a:xfrm flipH="false" flipV="false" rot="0">
            <a:off x="423781" y="3746117"/>
            <a:ext cx="8403860" cy="4666016"/>
          </a:xfrm>
          <a:prstGeom prst="rect">
            <a:avLst/>
          </a:prstGeom>
        </p:spPr>
      </p:pic>
      <p:sp>
        <p:nvSpPr>
          <p:cNvPr name="TextBox 3" id="3"/>
          <p:cNvSpPr txBox="true"/>
          <p:nvPr/>
        </p:nvSpPr>
        <p:spPr>
          <a:xfrm rot="0">
            <a:off x="423781" y="512444"/>
            <a:ext cx="11598293" cy="880111"/>
          </a:xfrm>
          <a:prstGeom prst="rect">
            <a:avLst/>
          </a:prstGeom>
        </p:spPr>
        <p:txBody>
          <a:bodyPr anchor="t" rtlCol="false" tIns="0" lIns="0" bIns="0" rIns="0">
            <a:spAutoFit/>
          </a:bodyPr>
          <a:lstStyle/>
          <a:p>
            <a:pPr algn="l">
              <a:lnSpc>
                <a:spcPts val="7139"/>
              </a:lnSpc>
              <a:spcBef>
                <a:spcPct val="0"/>
              </a:spcBef>
            </a:pPr>
            <a:r>
              <a:rPr lang="en-US" sz="5099">
                <a:solidFill>
                  <a:srgbClr val="5A7377"/>
                </a:solidFill>
                <a:latin typeface="Yeseva One"/>
                <a:ea typeface="Yeseva One"/>
                <a:cs typeface="Yeseva One"/>
                <a:sym typeface="Yeseva One"/>
              </a:rPr>
              <a:t>TRATAMIENTO EXPERIMENTAL:</a:t>
            </a:r>
          </a:p>
        </p:txBody>
      </p:sp>
      <p:sp>
        <p:nvSpPr>
          <p:cNvPr name="AutoShape 4" id="4"/>
          <p:cNvSpPr/>
          <p:nvPr/>
        </p:nvSpPr>
        <p:spPr>
          <a:xfrm flipV="true">
            <a:off x="1028700" y="1392556"/>
            <a:ext cx="8435058" cy="0"/>
          </a:xfrm>
          <a:prstGeom prst="line">
            <a:avLst/>
          </a:prstGeom>
          <a:ln cap="rnd" w="47625">
            <a:solidFill>
              <a:srgbClr val="ECBE70"/>
            </a:solidFill>
            <a:prstDash val="solid"/>
            <a:headEnd type="none" len="sm" w="sm"/>
            <a:tailEnd type="none" len="sm" w="sm"/>
          </a:ln>
        </p:spPr>
      </p:sp>
      <p:sp>
        <p:nvSpPr>
          <p:cNvPr name="Freeform 5" id="5"/>
          <p:cNvSpPr/>
          <p:nvPr/>
        </p:nvSpPr>
        <p:spPr>
          <a:xfrm flipH="false" flipV="false" rot="0">
            <a:off x="9144000" y="3477517"/>
            <a:ext cx="8913434" cy="5203217"/>
          </a:xfrm>
          <a:custGeom>
            <a:avLst/>
            <a:gdLst/>
            <a:ahLst/>
            <a:cxnLst/>
            <a:rect r="r" b="b" t="t" l="l"/>
            <a:pathLst>
              <a:path h="5203217" w="8913434">
                <a:moveTo>
                  <a:pt x="0" y="0"/>
                </a:moveTo>
                <a:lnTo>
                  <a:pt x="8913434" y="0"/>
                </a:lnTo>
                <a:lnTo>
                  <a:pt x="8913434" y="5203217"/>
                </a:lnTo>
                <a:lnTo>
                  <a:pt x="0" y="5203217"/>
                </a:lnTo>
                <a:lnTo>
                  <a:pt x="0" y="0"/>
                </a:lnTo>
                <a:close/>
              </a:path>
            </a:pathLst>
          </a:custGeom>
          <a:blipFill>
            <a:blip r:embed="rId5"/>
            <a:stretch>
              <a:fillRect l="0" t="0" r="0" b="0"/>
            </a:stretch>
          </a:blipFill>
        </p:spPr>
      </p:sp>
      <p:sp>
        <p:nvSpPr>
          <p:cNvPr name="Freeform 6" id="6"/>
          <p:cNvSpPr/>
          <p:nvPr/>
        </p:nvSpPr>
        <p:spPr>
          <a:xfrm flipH="false" flipV="false" rot="0">
            <a:off x="15080578" y="617219"/>
            <a:ext cx="2178722" cy="2234587"/>
          </a:xfrm>
          <a:custGeom>
            <a:avLst/>
            <a:gdLst/>
            <a:ahLst/>
            <a:cxnLst/>
            <a:rect r="r" b="b" t="t" l="l"/>
            <a:pathLst>
              <a:path h="2234587" w="2178722">
                <a:moveTo>
                  <a:pt x="0" y="0"/>
                </a:moveTo>
                <a:lnTo>
                  <a:pt x="2178722" y="0"/>
                </a:lnTo>
                <a:lnTo>
                  <a:pt x="2178722" y="2234587"/>
                </a:lnTo>
                <a:lnTo>
                  <a:pt x="0" y="2234587"/>
                </a:lnTo>
                <a:lnTo>
                  <a:pt x="0" y="0"/>
                </a:lnTo>
                <a:close/>
              </a:path>
            </a:pathLst>
          </a:custGeom>
          <a:blipFill>
            <a:blip r:embed="rId6"/>
            <a:stretch>
              <a:fillRect l="-21526" t="-8010" r="-24908" b="-42236"/>
            </a:stretch>
          </a:blipFill>
        </p:spPr>
      </p:sp>
      <p:sp>
        <p:nvSpPr>
          <p:cNvPr name="TextBox 7" id="7"/>
          <p:cNvSpPr txBox="true"/>
          <p:nvPr/>
        </p:nvSpPr>
        <p:spPr>
          <a:xfrm rot="0">
            <a:off x="10248721" y="8887426"/>
            <a:ext cx="7206774" cy="613409"/>
          </a:xfrm>
          <a:prstGeom prst="rect">
            <a:avLst/>
          </a:prstGeom>
        </p:spPr>
        <p:txBody>
          <a:bodyPr anchor="t" rtlCol="false" tIns="0" lIns="0" bIns="0" rIns="0">
            <a:spAutoFit/>
          </a:bodyPr>
          <a:lstStyle/>
          <a:p>
            <a:pPr algn="l">
              <a:lnSpc>
                <a:spcPts val="5040"/>
              </a:lnSpc>
            </a:pPr>
            <a:r>
              <a:rPr lang="en-US" sz="3600" i="true">
                <a:solidFill>
                  <a:srgbClr val="000000"/>
                </a:solidFill>
                <a:latin typeface="Open Sans Italics"/>
                <a:ea typeface="Open Sans Italics"/>
                <a:cs typeface="Open Sans Italics"/>
                <a:sym typeface="Open Sans Italics"/>
              </a:rPr>
              <a:t>Análisis Frame a Frame en Tracker</a:t>
            </a:r>
          </a:p>
        </p:txBody>
      </p:sp>
      <p:sp>
        <p:nvSpPr>
          <p:cNvPr name="TextBox 8" id="8"/>
          <p:cNvSpPr txBox="true"/>
          <p:nvPr/>
        </p:nvSpPr>
        <p:spPr>
          <a:xfrm rot="0">
            <a:off x="2747857" y="8677910"/>
            <a:ext cx="3755708" cy="580390"/>
          </a:xfrm>
          <a:prstGeom prst="rect">
            <a:avLst/>
          </a:prstGeom>
        </p:spPr>
        <p:txBody>
          <a:bodyPr anchor="t" rtlCol="false" tIns="0" lIns="0" bIns="0" rIns="0">
            <a:spAutoFit/>
          </a:bodyPr>
          <a:lstStyle/>
          <a:p>
            <a:pPr algn="ctr">
              <a:lnSpc>
                <a:spcPts val="4759"/>
              </a:lnSpc>
            </a:pPr>
            <a:r>
              <a:rPr lang="en-US" sz="3399" i="true">
                <a:solidFill>
                  <a:srgbClr val="000000"/>
                </a:solidFill>
                <a:latin typeface="Open Sans Italics"/>
                <a:ea typeface="Open Sans Italics"/>
                <a:cs typeface="Open Sans Italics"/>
                <a:sym typeface="Open Sans Italics"/>
              </a:rPr>
              <a:t>Fragmento de vídeo</a:t>
            </a:r>
          </a:p>
        </p:txBody>
      </p:sp>
      <p:sp>
        <p:nvSpPr>
          <p:cNvPr name="TextBox 9" id="9"/>
          <p:cNvSpPr txBox="true"/>
          <p:nvPr/>
        </p:nvSpPr>
        <p:spPr>
          <a:xfrm rot="0">
            <a:off x="563775" y="2238397"/>
            <a:ext cx="4368165" cy="613409"/>
          </a:xfrm>
          <a:prstGeom prst="rect">
            <a:avLst/>
          </a:prstGeom>
        </p:spPr>
        <p:txBody>
          <a:bodyPr anchor="t" rtlCol="false" tIns="0" lIns="0" bIns="0" rIns="0">
            <a:spAutoFit/>
          </a:bodyPr>
          <a:lstStyle/>
          <a:p>
            <a:pPr algn="l" marL="777248" indent="-388624" lvl="1">
              <a:lnSpc>
                <a:spcPts val="5040"/>
              </a:lnSpc>
              <a:buFont typeface="Arial"/>
              <a:buChar char="•"/>
            </a:pPr>
            <a:r>
              <a:rPr lang="en-US" sz="3600" i="true">
                <a:solidFill>
                  <a:srgbClr val="5A7377"/>
                </a:solidFill>
                <a:latin typeface="Open Sans Italics"/>
                <a:ea typeface="Open Sans Italics"/>
                <a:cs typeface="Open Sans Italics"/>
                <a:sym typeface="Open Sans Italics"/>
              </a:rPr>
              <a:t>Marco No Inercial</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861045" y="2113894"/>
            <a:ext cx="12724110" cy="6886924"/>
          </a:xfrm>
          <a:custGeom>
            <a:avLst/>
            <a:gdLst/>
            <a:ahLst/>
            <a:cxnLst/>
            <a:rect r="r" b="b" t="t" l="l"/>
            <a:pathLst>
              <a:path h="6886924" w="12724110">
                <a:moveTo>
                  <a:pt x="0" y="0"/>
                </a:moveTo>
                <a:lnTo>
                  <a:pt x="12724110" y="0"/>
                </a:lnTo>
                <a:lnTo>
                  <a:pt x="12724110" y="6886924"/>
                </a:lnTo>
                <a:lnTo>
                  <a:pt x="0" y="6886924"/>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15</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5262061"/>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1:</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193760" y="5727882"/>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m=0.355 [Kg]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827015" y="2177196"/>
            <a:ext cx="12828071" cy="6959229"/>
          </a:xfrm>
          <a:custGeom>
            <a:avLst/>
            <a:gdLst/>
            <a:ahLst/>
            <a:cxnLst/>
            <a:rect r="r" b="b" t="t" l="l"/>
            <a:pathLst>
              <a:path h="6959229" w="12828071">
                <a:moveTo>
                  <a:pt x="0" y="0"/>
                </a:moveTo>
                <a:lnTo>
                  <a:pt x="12828072" y="0"/>
                </a:lnTo>
                <a:lnTo>
                  <a:pt x="12828072" y="6959229"/>
                </a:lnTo>
                <a:lnTo>
                  <a:pt x="0" y="6959229"/>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16</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5262061"/>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2:</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153265" y="5727882"/>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m=0.384 [Kg]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861045" y="2186133"/>
            <a:ext cx="12824677" cy="6941356"/>
          </a:xfrm>
          <a:custGeom>
            <a:avLst/>
            <a:gdLst/>
            <a:ahLst/>
            <a:cxnLst/>
            <a:rect r="r" b="b" t="t" l="l"/>
            <a:pathLst>
              <a:path h="6941356" w="12824677">
                <a:moveTo>
                  <a:pt x="0" y="0"/>
                </a:moveTo>
                <a:lnTo>
                  <a:pt x="12824677" y="0"/>
                </a:lnTo>
                <a:lnTo>
                  <a:pt x="12824677" y="6941356"/>
                </a:lnTo>
                <a:lnTo>
                  <a:pt x="0" y="6941356"/>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17</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5262061"/>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3:</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186124" y="5727882"/>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m=0.739 [Kg]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10896447" cy="0"/>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935292" y="2342042"/>
            <a:ext cx="12641542" cy="6842235"/>
          </a:xfrm>
          <a:custGeom>
            <a:avLst/>
            <a:gdLst/>
            <a:ahLst/>
            <a:cxnLst/>
            <a:rect r="r" b="b" t="t" l="l"/>
            <a:pathLst>
              <a:path h="6842235" w="12641542">
                <a:moveTo>
                  <a:pt x="0" y="0"/>
                </a:moveTo>
                <a:lnTo>
                  <a:pt x="12641542" y="0"/>
                </a:lnTo>
                <a:lnTo>
                  <a:pt x="12641542" y="6842235"/>
                </a:lnTo>
                <a:lnTo>
                  <a:pt x="0" y="6842235"/>
                </a:lnTo>
                <a:lnTo>
                  <a:pt x="0" y="0"/>
                </a:lnTo>
                <a:close/>
              </a:path>
            </a:pathLst>
          </a:custGeom>
          <a:blipFill>
            <a:blip r:embed="rId3"/>
            <a:stretch>
              <a:fillRect l="0" t="0" r="0" b="0"/>
            </a:stretch>
          </a:blipFill>
        </p:spPr>
      </p:sp>
      <p:sp>
        <p:nvSpPr>
          <p:cNvPr name="TextBox 8" id="8"/>
          <p:cNvSpPr txBox="true"/>
          <p:nvPr/>
        </p:nvSpPr>
        <p:spPr>
          <a:xfrm rot="0">
            <a:off x="1137708" y="769935"/>
            <a:ext cx="10896447"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Comparación teórica y experimental</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18</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4921220"/>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1:</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130253" y="5502174"/>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m=0.355 [Kg]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10896447" cy="0"/>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731755" y="2385788"/>
            <a:ext cx="12697483" cy="6872512"/>
          </a:xfrm>
          <a:custGeom>
            <a:avLst/>
            <a:gdLst/>
            <a:ahLst/>
            <a:cxnLst/>
            <a:rect r="r" b="b" t="t" l="l"/>
            <a:pathLst>
              <a:path h="6872512" w="12697483">
                <a:moveTo>
                  <a:pt x="0" y="0"/>
                </a:moveTo>
                <a:lnTo>
                  <a:pt x="12697482" y="0"/>
                </a:lnTo>
                <a:lnTo>
                  <a:pt x="12697482" y="6872512"/>
                </a:lnTo>
                <a:lnTo>
                  <a:pt x="0" y="6872512"/>
                </a:lnTo>
                <a:lnTo>
                  <a:pt x="0" y="0"/>
                </a:lnTo>
                <a:close/>
              </a:path>
            </a:pathLst>
          </a:custGeom>
          <a:blipFill>
            <a:blip r:embed="rId3"/>
            <a:stretch>
              <a:fillRect l="0" t="0" r="0" b="0"/>
            </a:stretch>
          </a:blipFill>
        </p:spPr>
      </p:sp>
      <p:sp>
        <p:nvSpPr>
          <p:cNvPr name="TextBox 8" id="8"/>
          <p:cNvSpPr txBox="true"/>
          <p:nvPr/>
        </p:nvSpPr>
        <p:spPr>
          <a:xfrm rot="0">
            <a:off x="1137708" y="769935"/>
            <a:ext cx="10896447"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Comparación teórica y experimental</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19</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4921220"/>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2:</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026252" y="5561059"/>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m=0.384 [Kg]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10896447" cy="0"/>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4673120" y="2342042"/>
            <a:ext cx="12586180" cy="6812270"/>
          </a:xfrm>
          <a:custGeom>
            <a:avLst/>
            <a:gdLst/>
            <a:ahLst/>
            <a:cxnLst/>
            <a:rect r="r" b="b" t="t" l="l"/>
            <a:pathLst>
              <a:path h="6812270" w="12586180">
                <a:moveTo>
                  <a:pt x="0" y="0"/>
                </a:moveTo>
                <a:lnTo>
                  <a:pt x="12586180" y="0"/>
                </a:lnTo>
                <a:lnTo>
                  <a:pt x="12586180" y="6812270"/>
                </a:lnTo>
                <a:lnTo>
                  <a:pt x="0" y="6812270"/>
                </a:lnTo>
                <a:lnTo>
                  <a:pt x="0" y="0"/>
                </a:lnTo>
                <a:close/>
              </a:path>
            </a:pathLst>
          </a:custGeom>
          <a:blipFill>
            <a:blip r:embed="rId3"/>
            <a:stretch>
              <a:fillRect l="0" t="0" r="0" b="0"/>
            </a:stretch>
          </a:blipFill>
        </p:spPr>
      </p:sp>
      <p:sp>
        <p:nvSpPr>
          <p:cNvPr name="TextBox 8" id="8"/>
          <p:cNvSpPr txBox="true"/>
          <p:nvPr/>
        </p:nvSpPr>
        <p:spPr>
          <a:xfrm rot="0">
            <a:off x="1137708" y="769935"/>
            <a:ext cx="10896447"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Comparación teórica y experimental</a:t>
            </a:r>
          </a:p>
        </p:txBody>
      </p:sp>
      <p:sp>
        <p:nvSpPr>
          <p:cNvPr name="TextBox 9" id="9"/>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20</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inercial</a:t>
            </a:r>
          </a:p>
        </p:txBody>
      </p:sp>
      <p:sp>
        <p:nvSpPr>
          <p:cNvPr name="TextBox 11" id="11"/>
          <p:cNvSpPr txBox="true"/>
          <p:nvPr/>
        </p:nvSpPr>
        <p:spPr>
          <a:xfrm rot="0">
            <a:off x="1718789" y="4921220"/>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Masa 3:</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2154371" y="5487192"/>
            <a:ext cx="1978223" cy="464820"/>
          </a:xfrm>
          <a:prstGeom prst="rect">
            <a:avLst/>
          </a:prstGeom>
        </p:spPr>
        <p:txBody>
          <a:bodyPr anchor="t" rtlCol="false" tIns="0" lIns="0" bIns="0" rIns="0">
            <a:spAutoFit/>
          </a:bodyPr>
          <a:lstStyle/>
          <a:p>
            <a:pPr algn="ctr">
              <a:lnSpc>
                <a:spcPts val="3780"/>
              </a:lnSpc>
            </a:pPr>
            <a:r>
              <a:rPr lang="en-US" sz="2700" i="true">
                <a:solidFill>
                  <a:srgbClr val="000000"/>
                </a:solidFill>
                <a:latin typeface="Open Sans Italics"/>
                <a:ea typeface="Open Sans Italics"/>
                <a:cs typeface="Open Sans Italics"/>
                <a:sym typeface="Open Sans Italics"/>
              </a:rPr>
              <a:t>m=0.739 [Kg]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718789" y="2901485"/>
            <a:ext cx="6998087" cy="5680658"/>
          </a:xfrm>
          <a:custGeom>
            <a:avLst/>
            <a:gdLst/>
            <a:ahLst/>
            <a:cxnLst/>
            <a:rect r="r" b="b" t="t" l="l"/>
            <a:pathLst>
              <a:path h="5680658" w="6998087">
                <a:moveTo>
                  <a:pt x="0" y="0"/>
                </a:moveTo>
                <a:lnTo>
                  <a:pt x="6998086" y="0"/>
                </a:lnTo>
                <a:lnTo>
                  <a:pt x="6998086" y="5680658"/>
                </a:lnTo>
                <a:lnTo>
                  <a:pt x="0" y="5680658"/>
                </a:lnTo>
                <a:lnTo>
                  <a:pt x="0" y="0"/>
                </a:lnTo>
                <a:close/>
              </a:path>
            </a:pathLst>
          </a:custGeom>
          <a:blipFill>
            <a:blip r:embed="rId3"/>
            <a:stretch>
              <a:fillRect l="0" t="0" r="0" b="0"/>
            </a:stretch>
          </a:blipFill>
        </p:spPr>
      </p:sp>
      <p:sp>
        <p:nvSpPr>
          <p:cNvPr name="Freeform 8" id="8"/>
          <p:cNvSpPr/>
          <p:nvPr/>
        </p:nvSpPr>
        <p:spPr>
          <a:xfrm flipH="false" flipV="false" rot="0">
            <a:off x="10369992" y="2901485"/>
            <a:ext cx="6889308" cy="5680658"/>
          </a:xfrm>
          <a:custGeom>
            <a:avLst/>
            <a:gdLst/>
            <a:ahLst/>
            <a:cxnLst/>
            <a:rect r="r" b="b" t="t" l="l"/>
            <a:pathLst>
              <a:path h="5680658" w="6889308">
                <a:moveTo>
                  <a:pt x="0" y="0"/>
                </a:moveTo>
                <a:lnTo>
                  <a:pt x="6889308" y="0"/>
                </a:lnTo>
                <a:lnTo>
                  <a:pt x="6889308" y="5680658"/>
                </a:lnTo>
                <a:lnTo>
                  <a:pt x="0" y="5680658"/>
                </a:lnTo>
                <a:lnTo>
                  <a:pt x="0" y="0"/>
                </a:lnTo>
                <a:close/>
              </a:path>
            </a:pathLst>
          </a:custGeom>
          <a:blipFill>
            <a:blip r:embed="rId4"/>
            <a:stretch>
              <a:fillRect l="0" t="0" r="0" b="0"/>
            </a:stretch>
          </a:blipFill>
        </p:spPr>
      </p:sp>
      <p:sp>
        <p:nvSpPr>
          <p:cNvPr name="TextBox 9" id="9"/>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10" id="10"/>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1" id="11"/>
          <p:cNvSpPr txBox="true"/>
          <p:nvPr/>
        </p:nvSpPr>
        <p:spPr>
          <a:xfrm rot="0">
            <a:off x="1495324" y="2378515"/>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1:</a:t>
            </a:r>
          </a:p>
        </p:txBody>
      </p:sp>
      <p:sp>
        <p:nvSpPr>
          <p:cNvPr name="TextBox 12" id="12"/>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3" id="13"/>
          <p:cNvSpPr txBox="true"/>
          <p:nvPr/>
        </p:nvSpPr>
        <p:spPr>
          <a:xfrm rot="0">
            <a:off x="9835527" y="2275367"/>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2:</a:t>
            </a:r>
          </a:p>
        </p:txBody>
      </p:sp>
      <p:sp>
        <p:nvSpPr>
          <p:cNvPr name="TextBox 14" id="14"/>
          <p:cNvSpPr txBox="true"/>
          <p:nvPr/>
        </p:nvSpPr>
        <p:spPr>
          <a:xfrm rot="0">
            <a:off x="6432033" y="8714577"/>
            <a:ext cx="2064187"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m=0.355 [Kg]</a:t>
            </a:r>
          </a:p>
        </p:txBody>
      </p:sp>
      <p:sp>
        <p:nvSpPr>
          <p:cNvPr name="TextBox 15" id="15"/>
          <p:cNvSpPr txBox="true"/>
          <p:nvPr/>
        </p:nvSpPr>
        <p:spPr>
          <a:xfrm rot="0">
            <a:off x="15289349" y="8714577"/>
            <a:ext cx="2064187"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m=0.384 [Kg]</a:t>
            </a:r>
          </a:p>
        </p:txBody>
      </p:sp>
      <p:sp>
        <p:nvSpPr>
          <p:cNvPr name="TextBox 16" id="16"/>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21</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7216150" y="1885746"/>
            <a:ext cx="8693978" cy="7168719"/>
          </a:xfrm>
          <a:custGeom>
            <a:avLst/>
            <a:gdLst/>
            <a:ahLst/>
            <a:cxnLst/>
            <a:rect r="r" b="b" t="t" l="l"/>
            <a:pathLst>
              <a:path h="7168719" w="8693978">
                <a:moveTo>
                  <a:pt x="0" y="0"/>
                </a:moveTo>
                <a:lnTo>
                  <a:pt x="8693978" y="0"/>
                </a:lnTo>
                <a:lnTo>
                  <a:pt x="8693978" y="7168719"/>
                </a:lnTo>
                <a:lnTo>
                  <a:pt x="0" y="7168719"/>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0" id="10"/>
          <p:cNvSpPr txBox="true"/>
          <p:nvPr/>
        </p:nvSpPr>
        <p:spPr>
          <a:xfrm rot="0">
            <a:off x="1495324" y="2378515"/>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3:</a:t>
            </a:r>
          </a:p>
        </p:txBody>
      </p:sp>
      <p:sp>
        <p:nvSpPr>
          <p:cNvPr name="TextBox 11" id="11"/>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2" id="12"/>
          <p:cNvSpPr txBox="true"/>
          <p:nvPr/>
        </p:nvSpPr>
        <p:spPr>
          <a:xfrm rot="0">
            <a:off x="13756883" y="9280054"/>
            <a:ext cx="2153245"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 = 0.739[Kg]</a:t>
            </a:r>
          </a:p>
        </p:txBody>
      </p:sp>
      <p:sp>
        <p:nvSpPr>
          <p:cNvPr name="TextBox 13" id="13"/>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22</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10318731" cy="0"/>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7187238" y="1908378"/>
            <a:ext cx="9693834" cy="7885658"/>
          </a:xfrm>
          <a:custGeom>
            <a:avLst/>
            <a:gdLst/>
            <a:ahLst/>
            <a:cxnLst/>
            <a:rect r="r" b="b" t="t" l="l"/>
            <a:pathLst>
              <a:path h="7885658" w="9693834">
                <a:moveTo>
                  <a:pt x="0" y="0"/>
                </a:moveTo>
                <a:lnTo>
                  <a:pt x="9693834" y="0"/>
                </a:lnTo>
                <a:lnTo>
                  <a:pt x="9693834" y="7885658"/>
                </a:lnTo>
                <a:lnTo>
                  <a:pt x="0" y="7885658"/>
                </a:lnTo>
                <a:lnTo>
                  <a:pt x="0" y="0"/>
                </a:lnTo>
                <a:close/>
              </a:path>
            </a:pathLst>
          </a:custGeom>
          <a:blipFill>
            <a:blip r:embed="rId3"/>
            <a:stretch>
              <a:fillRect l="0" t="0" r="0" b="0"/>
            </a:stretch>
          </a:blipFill>
        </p:spPr>
      </p:sp>
      <p:sp>
        <p:nvSpPr>
          <p:cNvPr name="TextBox 8" id="8"/>
          <p:cNvSpPr txBox="true"/>
          <p:nvPr/>
        </p:nvSpPr>
        <p:spPr>
          <a:xfrm rot="0">
            <a:off x="1137708" y="769935"/>
            <a:ext cx="10318731"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Comparación teórica y experimental</a:t>
            </a:r>
          </a:p>
        </p:txBody>
      </p:sp>
      <p:sp>
        <p:nvSpPr>
          <p:cNvPr name="TextBox 9" id="9"/>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0" id="10"/>
          <p:cNvSpPr txBox="true"/>
          <p:nvPr/>
        </p:nvSpPr>
        <p:spPr>
          <a:xfrm rot="0">
            <a:off x="1445997" y="5058227"/>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1:</a:t>
            </a:r>
          </a:p>
        </p:txBody>
      </p:sp>
      <p:sp>
        <p:nvSpPr>
          <p:cNvPr name="TextBox 11" id="11"/>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2" id="12"/>
          <p:cNvSpPr txBox="true"/>
          <p:nvPr/>
        </p:nvSpPr>
        <p:spPr>
          <a:xfrm rot="0">
            <a:off x="2115917" y="5524047"/>
            <a:ext cx="2064187"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m=0.355 [Kg]</a:t>
            </a:r>
          </a:p>
        </p:txBody>
      </p:sp>
      <p:sp>
        <p:nvSpPr>
          <p:cNvPr name="TextBox 13" id="13"/>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23</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6988681" y="1885746"/>
            <a:ext cx="9674782" cy="7994426"/>
          </a:xfrm>
          <a:custGeom>
            <a:avLst/>
            <a:gdLst/>
            <a:ahLst/>
            <a:cxnLst/>
            <a:rect r="r" b="b" t="t" l="l"/>
            <a:pathLst>
              <a:path h="7994426" w="9674782">
                <a:moveTo>
                  <a:pt x="0" y="0"/>
                </a:moveTo>
                <a:lnTo>
                  <a:pt x="9674783" y="0"/>
                </a:lnTo>
                <a:lnTo>
                  <a:pt x="9674783" y="7994426"/>
                </a:lnTo>
                <a:lnTo>
                  <a:pt x="0" y="7994426"/>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0" id="10"/>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1" id="11"/>
          <p:cNvSpPr txBox="true"/>
          <p:nvPr/>
        </p:nvSpPr>
        <p:spPr>
          <a:xfrm rot="0">
            <a:off x="1548584" y="4645077"/>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2:</a:t>
            </a:r>
          </a:p>
        </p:txBody>
      </p:sp>
      <p:sp>
        <p:nvSpPr>
          <p:cNvPr name="TextBox 12" id="12"/>
          <p:cNvSpPr txBox="true"/>
          <p:nvPr/>
        </p:nvSpPr>
        <p:spPr>
          <a:xfrm rot="0">
            <a:off x="2217683" y="5110898"/>
            <a:ext cx="2064187"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m=0.384 [Kg]</a:t>
            </a:r>
          </a:p>
        </p:txBody>
      </p:sp>
      <p:sp>
        <p:nvSpPr>
          <p:cNvPr name="TextBox 13" id="13"/>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24</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AutoShape 2" id="2"/>
          <p:cNvSpPr/>
          <p:nvPr/>
        </p:nvSpPr>
        <p:spPr>
          <a:xfrm>
            <a:off x="1137708" y="1491930"/>
            <a:ext cx="7976590" cy="158767"/>
          </a:xfrm>
          <a:prstGeom prst="line">
            <a:avLst/>
          </a:prstGeom>
          <a:ln cap="rnd" w="47625">
            <a:solidFill>
              <a:srgbClr val="ECBE70"/>
            </a:solidFill>
            <a:prstDash val="solid"/>
            <a:headEnd type="none" len="sm" w="sm"/>
            <a:tailEnd type="none" len="sm" w="sm"/>
          </a:ln>
        </p:spPr>
      </p:sp>
      <p:sp>
        <p:nvSpPr>
          <p:cNvPr name="Freeform 3" id="3"/>
          <p:cNvSpPr/>
          <p:nvPr/>
        </p:nvSpPr>
        <p:spPr>
          <a:xfrm flipH="false" flipV="false" rot="0">
            <a:off x="725782" y="8771727"/>
            <a:ext cx="1986014" cy="973147"/>
          </a:xfrm>
          <a:custGeom>
            <a:avLst/>
            <a:gdLst/>
            <a:ahLst/>
            <a:cxnLst/>
            <a:rect r="r" b="b" t="t" l="l"/>
            <a:pathLst>
              <a:path h="973147" w="1986014">
                <a:moveTo>
                  <a:pt x="0" y="0"/>
                </a:moveTo>
                <a:lnTo>
                  <a:pt x="1986014" y="0"/>
                </a:lnTo>
                <a:lnTo>
                  <a:pt x="1986014" y="973146"/>
                </a:lnTo>
                <a:lnTo>
                  <a:pt x="0" y="973146"/>
                </a:lnTo>
                <a:lnTo>
                  <a:pt x="0" y="0"/>
                </a:lnTo>
                <a:close/>
              </a:path>
            </a:pathLst>
          </a:custGeom>
          <a:blipFill>
            <a:blip r:embed="rId2"/>
            <a:stretch>
              <a:fillRect l="0" t="0" r="0" b="0"/>
            </a:stretch>
          </a:blipFill>
        </p:spPr>
      </p:sp>
      <p:grpSp>
        <p:nvGrpSpPr>
          <p:cNvPr name="Group 4" id="4"/>
          <p:cNvGrpSpPr/>
          <p:nvPr/>
        </p:nvGrpSpPr>
        <p:grpSpPr>
          <a:xfrm rot="0">
            <a:off x="7636899" y="10186671"/>
            <a:ext cx="4397256" cy="1212196"/>
            <a:chOff x="0" y="0"/>
            <a:chExt cx="1158125" cy="319262"/>
          </a:xfrm>
        </p:grpSpPr>
        <p:sp>
          <p:nvSpPr>
            <p:cNvPr name="Freeform 5" id="5"/>
            <p:cNvSpPr/>
            <p:nvPr/>
          </p:nvSpPr>
          <p:spPr>
            <a:xfrm flipH="false" flipV="false" rot="0">
              <a:off x="0" y="0"/>
              <a:ext cx="1158125" cy="319262"/>
            </a:xfrm>
            <a:custGeom>
              <a:avLst/>
              <a:gdLst/>
              <a:ahLst/>
              <a:cxnLst/>
              <a:rect r="r" b="b" t="t" l="l"/>
              <a:pathLst>
                <a:path h="319262" w="1158125">
                  <a:moveTo>
                    <a:pt x="0" y="0"/>
                  </a:moveTo>
                  <a:lnTo>
                    <a:pt x="1158125" y="0"/>
                  </a:lnTo>
                  <a:lnTo>
                    <a:pt x="1158125" y="319262"/>
                  </a:lnTo>
                  <a:lnTo>
                    <a:pt x="0" y="319262"/>
                  </a:lnTo>
                  <a:close/>
                </a:path>
              </a:pathLst>
            </a:custGeom>
            <a:solidFill>
              <a:srgbClr val="ECBE70"/>
            </a:solidFill>
          </p:spPr>
        </p:sp>
        <p:sp>
          <p:nvSpPr>
            <p:cNvPr name="TextBox 6" id="6"/>
            <p:cNvSpPr txBox="true"/>
            <p:nvPr/>
          </p:nvSpPr>
          <p:spPr>
            <a:xfrm>
              <a:off x="0" y="-47625"/>
              <a:ext cx="1158125" cy="366887"/>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7061724" y="1885746"/>
            <a:ext cx="9749164" cy="8055888"/>
          </a:xfrm>
          <a:custGeom>
            <a:avLst/>
            <a:gdLst/>
            <a:ahLst/>
            <a:cxnLst/>
            <a:rect r="r" b="b" t="t" l="l"/>
            <a:pathLst>
              <a:path h="8055888" w="9749164">
                <a:moveTo>
                  <a:pt x="0" y="0"/>
                </a:moveTo>
                <a:lnTo>
                  <a:pt x="9749164" y="0"/>
                </a:lnTo>
                <a:lnTo>
                  <a:pt x="9749164" y="8055888"/>
                </a:lnTo>
                <a:lnTo>
                  <a:pt x="0" y="8055888"/>
                </a:lnTo>
                <a:lnTo>
                  <a:pt x="0" y="0"/>
                </a:lnTo>
                <a:close/>
              </a:path>
            </a:pathLst>
          </a:custGeom>
          <a:blipFill>
            <a:blip r:embed="rId3"/>
            <a:stretch>
              <a:fillRect l="0" t="0" r="0" b="0"/>
            </a:stretch>
          </a:blipFill>
        </p:spPr>
      </p:sp>
      <p:sp>
        <p:nvSpPr>
          <p:cNvPr name="TextBox 8" id="8"/>
          <p:cNvSpPr txBox="true"/>
          <p:nvPr/>
        </p:nvSpPr>
        <p:spPr>
          <a:xfrm rot="0">
            <a:off x="1137708" y="769935"/>
            <a:ext cx="7827716" cy="721996"/>
          </a:xfrm>
          <a:prstGeom prst="rect">
            <a:avLst/>
          </a:prstGeom>
        </p:spPr>
        <p:txBody>
          <a:bodyPr anchor="t" rtlCol="false" tIns="0" lIns="0" bIns="0" rIns="0">
            <a:spAutoFit/>
          </a:bodyPr>
          <a:lstStyle/>
          <a:p>
            <a:pPr algn="l">
              <a:lnSpc>
                <a:spcPts val="5879"/>
              </a:lnSpc>
              <a:spcBef>
                <a:spcPct val="0"/>
              </a:spcBef>
            </a:pPr>
            <a:r>
              <a:rPr lang="en-US" sz="4199">
                <a:solidFill>
                  <a:srgbClr val="FFFDF8"/>
                </a:solidFill>
                <a:latin typeface="Yeseva One"/>
                <a:ea typeface="Yeseva One"/>
                <a:cs typeface="Yeseva One"/>
                <a:sym typeface="Yeseva One"/>
              </a:rPr>
              <a:t>Resultados experimentales:</a:t>
            </a:r>
          </a:p>
        </p:txBody>
      </p:sp>
      <p:sp>
        <p:nvSpPr>
          <p:cNvPr name="TextBox 9" id="9"/>
          <p:cNvSpPr txBox="true"/>
          <p:nvPr/>
        </p:nvSpPr>
        <p:spPr>
          <a:xfrm rot="0">
            <a:off x="967808" y="1819071"/>
            <a:ext cx="13338182" cy="522971"/>
          </a:xfrm>
          <a:prstGeom prst="rect">
            <a:avLst/>
          </a:prstGeom>
        </p:spPr>
        <p:txBody>
          <a:bodyPr anchor="t" rtlCol="false" tIns="0" lIns="0" bIns="0" rIns="0">
            <a:spAutoFit/>
          </a:bodyPr>
          <a:lstStyle/>
          <a:p>
            <a:pPr algn="l" marL="655387" indent="-327693" lvl="1">
              <a:lnSpc>
                <a:spcPts val="4249"/>
              </a:lnSpc>
              <a:spcBef>
                <a:spcPct val="0"/>
              </a:spcBef>
              <a:buAutoNum type="arabicPeriod" startAt="1"/>
            </a:pPr>
            <a:r>
              <a:rPr lang="en-US" sz="3035">
                <a:solidFill>
                  <a:srgbClr val="ECBE70"/>
                </a:solidFill>
                <a:latin typeface="Yeseva One"/>
                <a:ea typeface="Yeseva One"/>
                <a:cs typeface="Yeseva One"/>
                <a:sym typeface="Yeseva One"/>
              </a:rPr>
              <a:t>Marco no inercial</a:t>
            </a:r>
          </a:p>
        </p:txBody>
      </p:sp>
      <p:sp>
        <p:nvSpPr>
          <p:cNvPr name="TextBox 10" id="10"/>
          <p:cNvSpPr txBox="true"/>
          <p:nvPr/>
        </p:nvSpPr>
        <p:spPr>
          <a:xfrm rot="0">
            <a:off x="1495324" y="4848677"/>
            <a:ext cx="13338182" cy="522971"/>
          </a:xfrm>
          <a:prstGeom prst="rect">
            <a:avLst/>
          </a:prstGeom>
        </p:spPr>
        <p:txBody>
          <a:bodyPr anchor="t" rtlCol="false" tIns="0" lIns="0" bIns="0" rIns="0">
            <a:spAutoFit/>
          </a:bodyPr>
          <a:lstStyle/>
          <a:p>
            <a:pPr algn="l" marL="655387" indent="-327693" lvl="1">
              <a:lnSpc>
                <a:spcPts val="4249"/>
              </a:lnSpc>
              <a:buFont typeface="Arial"/>
              <a:buChar char="•"/>
            </a:pPr>
            <a:r>
              <a:rPr lang="en-US" sz="3035">
                <a:solidFill>
                  <a:srgbClr val="ECBE70"/>
                </a:solidFill>
                <a:latin typeface="Yeseva One"/>
                <a:ea typeface="Yeseva One"/>
                <a:cs typeface="Yeseva One"/>
                <a:sym typeface="Yeseva One"/>
              </a:rPr>
              <a:t>Toma 3:</a:t>
            </a:r>
          </a:p>
        </p:txBody>
      </p:sp>
      <p:sp>
        <p:nvSpPr>
          <p:cNvPr name="TextBox 11" id="11"/>
          <p:cNvSpPr txBox="true"/>
          <p:nvPr/>
        </p:nvSpPr>
        <p:spPr>
          <a:xfrm rot="0">
            <a:off x="16321442" y="2962919"/>
            <a:ext cx="70723" cy="372745"/>
          </a:xfrm>
          <a:prstGeom prst="rect">
            <a:avLst/>
          </a:prstGeom>
        </p:spPr>
        <p:txBody>
          <a:bodyPr anchor="t" rtlCol="false" tIns="0" lIns="0" bIns="0" rIns="0">
            <a:spAutoFit/>
          </a:bodyPr>
          <a:lstStyle/>
          <a:p>
            <a:pPr algn="ctr">
              <a:lnSpc>
                <a:spcPts val="3080"/>
              </a:lnSpc>
            </a:pPr>
            <a:r>
              <a:rPr lang="en-US" sz="2200" i="true">
                <a:solidFill>
                  <a:srgbClr val="000000"/>
                </a:solidFill>
                <a:latin typeface="Open Sans Italics"/>
                <a:ea typeface="Open Sans Italics"/>
                <a:cs typeface="Open Sans Italics"/>
                <a:sym typeface="Open Sans Italics"/>
              </a:rPr>
              <a:t>;</a:t>
            </a:r>
          </a:p>
        </p:txBody>
      </p:sp>
      <p:sp>
        <p:nvSpPr>
          <p:cNvPr name="TextBox 12" id="12"/>
          <p:cNvSpPr txBox="true"/>
          <p:nvPr/>
        </p:nvSpPr>
        <p:spPr>
          <a:xfrm rot="0">
            <a:off x="2214355" y="5412956"/>
            <a:ext cx="2153245" cy="464820"/>
          </a:xfrm>
          <a:prstGeom prst="rect">
            <a:avLst/>
          </a:prstGeom>
        </p:spPr>
        <p:txBody>
          <a:bodyPr anchor="t" rtlCol="false" tIns="0" lIns="0" bIns="0" rIns="0">
            <a:spAutoFit/>
          </a:bodyPr>
          <a:lstStyle/>
          <a:p>
            <a:pPr algn="ctr">
              <a:lnSpc>
                <a:spcPts val="3780"/>
              </a:lnSpc>
            </a:pPr>
            <a:r>
              <a:rPr lang="en-US" b="true" sz="2700" i="true">
                <a:solidFill>
                  <a:srgbClr val="000000"/>
                </a:solidFill>
                <a:latin typeface="Open Sans Bold Italics"/>
                <a:ea typeface="Open Sans Bold Italics"/>
                <a:cs typeface="Open Sans Bold Italics"/>
                <a:sym typeface="Open Sans Bold Italics"/>
              </a:rPr>
              <a:t>m = 0.739[Kg]</a:t>
            </a:r>
          </a:p>
        </p:txBody>
      </p:sp>
      <p:sp>
        <p:nvSpPr>
          <p:cNvPr name="TextBox 13" id="13"/>
          <p:cNvSpPr txBox="true"/>
          <p:nvPr/>
        </p:nvSpPr>
        <p:spPr>
          <a:xfrm rot="0">
            <a:off x="16642357" y="9750254"/>
            <a:ext cx="1233886" cy="349250"/>
          </a:xfrm>
          <a:prstGeom prst="rect">
            <a:avLst/>
          </a:prstGeom>
        </p:spPr>
        <p:txBody>
          <a:bodyPr anchor="t" rtlCol="false" tIns="0" lIns="0" bIns="0" rIns="0">
            <a:spAutoFit/>
          </a:bodyPr>
          <a:lstStyle/>
          <a:p>
            <a:pPr algn="r">
              <a:lnSpc>
                <a:spcPts val="2800"/>
              </a:lnSpc>
              <a:spcBef>
                <a:spcPct val="0"/>
              </a:spcBef>
            </a:pPr>
            <a:r>
              <a:rPr lang="en-US" sz="2000">
                <a:solidFill>
                  <a:srgbClr val="FFFDF8"/>
                </a:solidFill>
                <a:latin typeface="Source Serif Pro"/>
                <a:ea typeface="Source Serif Pro"/>
                <a:cs typeface="Source Serif Pro"/>
                <a:sym typeface="Source Serif Pro"/>
              </a:rPr>
              <a:t>25</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A7377"/>
        </a:solidFill>
      </p:bgPr>
    </p:bg>
    <p:spTree>
      <p:nvGrpSpPr>
        <p:cNvPr id="1" name=""/>
        <p:cNvGrpSpPr/>
        <p:nvPr/>
      </p:nvGrpSpPr>
      <p:grpSpPr>
        <a:xfrm>
          <a:off x="0" y="0"/>
          <a:ext cx="0" cy="0"/>
          <a:chOff x="0" y="0"/>
          <a:chExt cx="0" cy="0"/>
        </a:xfrm>
      </p:grpSpPr>
      <p:sp>
        <p:nvSpPr>
          <p:cNvPr name="TextBox 2" id="2"/>
          <p:cNvSpPr txBox="true"/>
          <p:nvPr/>
        </p:nvSpPr>
        <p:spPr>
          <a:xfrm rot="0">
            <a:off x="971355" y="528212"/>
            <a:ext cx="11225085" cy="954437"/>
          </a:xfrm>
          <a:prstGeom prst="rect">
            <a:avLst/>
          </a:prstGeom>
        </p:spPr>
        <p:txBody>
          <a:bodyPr anchor="t" rtlCol="false" tIns="0" lIns="0" bIns="0" rIns="0">
            <a:spAutoFit/>
          </a:bodyPr>
          <a:lstStyle/>
          <a:p>
            <a:pPr algn="l">
              <a:lnSpc>
                <a:spcPts val="7768"/>
              </a:lnSpc>
              <a:spcBef>
                <a:spcPct val="0"/>
              </a:spcBef>
            </a:pPr>
            <a:r>
              <a:rPr lang="en-US" sz="5548">
                <a:solidFill>
                  <a:srgbClr val="FFFDF8"/>
                </a:solidFill>
                <a:latin typeface="Yeseva One"/>
                <a:ea typeface="Yeseva One"/>
                <a:cs typeface="Yeseva One"/>
                <a:sym typeface="Yeseva One"/>
              </a:rPr>
              <a:t>Conclusiones</a:t>
            </a:r>
          </a:p>
        </p:txBody>
      </p:sp>
      <p:grpSp>
        <p:nvGrpSpPr>
          <p:cNvPr name="Group 3" id="3"/>
          <p:cNvGrpSpPr/>
          <p:nvPr/>
        </p:nvGrpSpPr>
        <p:grpSpPr>
          <a:xfrm rot="0">
            <a:off x="0" y="9610383"/>
            <a:ext cx="18288000" cy="676617"/>
            <a:chOff x="0" y="0"/>
            <a:chExt cx="4119155" cy="152400"/>
          </a:xfrm>
        </p:grpSpPr>
        <p:sp>
          <p:nvSpPr>
            <p:cNvPr name="Freeform 4" id="4"/>
            <p:cNvSpPr/>
            <p:nvPr/>
          </p:nvSpPr>
          <p:spPr>
            <a:xfrm flipH="false" flipV="false" rot="0">
              <a:off x="0" y="0"/>
              <a:ext cx="4119155" cy="152400"/>
            </a:xfrm>
            <a:custGeom>
              <a:avLst/>
              <a:gdLst/>
              <a:ahLst/>
              <a:cxnLst/>
              <a:rect r="r" b="b" t="t" l="l"/>
              <a:pathLst>
                <a:path h="152400" w="4119155">
                  <a:moveTo>
                    <a:pt x="0" y="0"/>
                  </a:moveTo>
                  <a:lnTo>
                    <a:pt x="4119155" y="0"/>
                  </a:lnTo>
                  <a:lnTo>
                    <a:pt x="4119155" y="152400"/>
                  </a:lnTo>
                  <a:lnTo>
                    <a:pt x="0" y="152400"/>
                  </a:lnTo>
                  <a:close/>
                </a:path>
              </a:pathLst>
            </a:custGeom>
            <a:solidFill>
              <a:srgbClr val="4A5759"/>
            </a:solidFill>
          </p:spPr>
        </p:sp>
      </p:grpSp>
      <p:grpSp>
        <p:nvGrpSpPr>
          <p:cNvPr name="Group 5" id="5"/>
          <p:cNvGrpSpPr/>
          <p:nvPr/>
        </p:nvGrpSpPr>
        <p:grpSpPr>
          <a:xfrm rot="0">
            <a:off x="1640206" y="1996999"/>
            <a:ext cx="15002151" cy="2031264"/>
            <a:chOff x="0" y="0"/>
            <a:chExt cx="3487705" cy="472229"/>
          </a:xfrm>
        </p:grpSpPr>
        <p:sp>
          <p:nvSpPr>
            <p:cNvPr name="Freeform 6" id="6"/>
            <p:cNvSpPr/>
            <p:nvPr/>
          </p:nvSpPr>
          <p:spPr>
            <a:xfrm flipH="false" flipV="false" rot="0">
              <a:off x="0" y="0"/>
              <a:ext cx="3487705" cy="472229"/>
            </a:xfrm>
            <a:custGeom>
              <a:avLst/>
              <a:gdLst/>
              <a:ahLst/>
              <a:cxnLst/>
              <a:rect r="r" b="b" t="t" l="l"/>
              <a:pathLst>
                <a:path h="472229" w="3487705">
                  <a:moveTo>
                    <a:pt x="26319" y="0"/>
                  </a:moveTo>
                  <a:lnTo>
                    <a:pt x="3461386" y="0"/>
                  </a:lnTo>
                  <a:cubicBezTo>
                    <a:pt x="3468366" y="0"/>
                    <a:pt x="3475060" y="2773"/>
                    <a:pt x="3479996" y="7709"/>
                  </a:cubicBezTo>
                  <a:cubicBezTo>
                    <a:pt x="3484932" y="12644"/>
                    <a:pt x="3487705" y="19339"/>
                    <a:pt x="3487705" y="26319"/>
                  </a:cubicBezTo>
                  <a:lnTo>
                    <a:pt x="3487705" y="445910"/>
                  </a:lnTo>
                  <a:cubicBezTo>
                    <a:pt x="3487705" y="452890"/>
                    <a:pt x="3484932" y="459585"/>
                    <a:pt x="3479996" y="464520"/>
                  </a:cubicBezTo>
                  <a:cubicBezTo>
                    <a:pt x="3475060" y="469456"/>
                    <a:pt x="3468366" y="472229"/>
                    <a:pt x="3461386" y="472229"/>
                  </a:cubicBezTo>
                  <a:lnTo>
                    <a:pt x="26319" y="472229"/>
                  </a:lnTo>
                  <a:cubicBezTo>
                    <a:pt x="19339" y="472229"/>
                    <a:pt x="12644" y="469456"/>
                    <a:pt x="7709" y="464520"/>
                  </a:cubicBezTo>
                  <a:cubicBezTo>
                    <a:pt x="2773" y="459585"/>
                    <a:pt x="0" y="452890"/>
                    <a:pt x="0" y="445910"/>
                  </a:cubicBezTo>
                  <a:lnTo>
                    <a:pt x="0" y="26319"/>
                  </a:lnTo>
                  <a:cubicBezTo>
                    <a:pt x="0" y="19339"/>
                    <a:pt x="2773" y="12644"/>
                    <a:pt x="7709" y="7709"/>
                  </a:cubicBezTo>
                  <a:cubicBezTo>
                    <a:pt x="12644" y="2773"/>
                    <a:pt x="19339" y="0"/>
                    <a:pt x="26319" y="0"/>
                  </a:cubicBezTo>
                  <a:close/>
                </a:path>
              </a:pathLst>
            </a:custGeom>
            <a:solidFill>
              <a:srgbClr val="FFFDF8"/>
            </a:solidFill>
          </p:spPr>
        </p:sp>
        <p:sp>
          <p:nvSpPr>
            <p:cNvPr name="TextBox 7" id="7"/>
            <p:cNvSpPr txBox="true"/>
            <p:nvPr/>
          </p:nvSpPr>
          <p:spPr>
            <a:xfrm>
              <a:off x="0" y="-38100"/>
              <a:ext cx="3487705" cy="510329"/>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1616325" y="4247338"/>
            <a:ext cx="15026032" cy="2505770"/>
            <a:chOff x="0" y="0"/>
            <a:chExt cx="3944227" cy="657747"/>
          </a:xfrm>
        </p:grpSpPr>
        <p:sp>
          <p:nvSpPr>
            <p:cNvPr name="Freeform 9" id="9"/>
            <p:cNvSpPr/>
            <p:nvPr/>
          </p:nvSpPr>
          <p:spPr>
            <a:xfrm flipH="false" flipV="false" rot="0">
              <a:off x="0" y="0"/>
              <a:ext cx="3944227" cy="657747"/>
            </a:xfrm>
            <a:custGeom>
              <a:avLst/>
              <a:gdLst/>
              <a:ahLst/>
              <a:cxnLst/>
              <a:rect r="r" b="b" t="t" l="l"/>
              <a:pathLst>
                <a:path h="657747" w="3944227">
                  <a:moveTo>
                    <a:pt x="26277" y="0"/>
                  </a:moveTo>
                  <a:lnTo>
                    <a:pt x="3917950" y="0"/>
                  </a:lnTo>
                  <a:cubicBezTo>
                    <a:pt x="3924920" y="0"/>
                    <a:pt x="3931603" y="2768"/>
                    <a:pt x="3936531" y="7696"/>
                  </a:cubicBezTo>
                  <a:cubicBezTo>
                    <a:pt x="3941459" y="12624"/>
                    <a:pt x="3944227" y="19308"/>
                    <a:pt x="3944227" y="26277"/>
                  </a:cubicBezTo>
                  <a:lnTo>
                    <a:pt x="3944227" y="631470"/>
                  </a:lnTo>
                  <a:cubicBezTo>
                    <a:pt x="3944227" y="638439"/>
                    <a:pt x="3941459" y="645123"/>
                    <a:pt x="3936531" y="650051"/>
                  </a:cubicBezTo>
                  <a:cubicBezTo>
                    <a:pt x="3931603" y="654979"/>
                    <a:pt x="3924920" y="657747"/>
                    <a:pt x="3917950" y="657747"/>
                  </a:cubicBezTo>
                  <a:lnTo>
                    <a:pt x="26277" y="657747"/>
                  </a:lnTo>
                  <a:cubicBezTo>
                    <a:pt x="11765" y="657747"/>
                    <a:pt x="0" y="645982"/>
                    <a:pt x="0" y="631470"/>
                  </a:cubicBezTo>
                  <a:lnTo>
                    <a:pt x="0" y="26277"/>
                  </a:lnTo>
                  <a:cubicBezTo>
                    <a:pt x="0" y="19308"/>
                    <a:pt x="2768" y="12624"/>
                    <a:pt x="7696" y="7696"/>
                  </a:cubicBezTo>
                  <a:cubicBezTo>
                    <a:pt x="12624" y="2768"/>
                    <a:pt x="19308" y="0"/>
                    <a:pt x="26277" y="0"/>
                  </a:cubicBezTo>
                  <a:close/>
                </a:path>
              </a:pathLst>
            </a:custGeom>
            <a:solidFill>
              <a:srgbClr val="FFFDF8"/>
            </a:solidFill>
          </p:spPr>
        </p:sp>
        <p:sp>
          <p:nvSpPr>
            <p:cNvPr name="TextBox 10" id="10"/>
            <p:cNvSpPr txBox="true"/>
            <p:nvPr/>
          </p:nvSpPr>
          <p:spPr>
            <a:xfrm>
              <a:off x="0" y="-38100"/>
              <a:ext cx="3944227" cy="695847"/>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1616325" y="7015229"/>
            <a:ext cx="15026032" cy="2420740"/>
            <a:chOff x="0" y="0"/>
            <a:chExt cx="3493256" cy="562774"/>
          </a:xfrm>
        </p:grpSpPr>
        <p:sp>
          <p:nvSpPr>
            <p:cNvPr name="Freeform 12" id="12"/>
            <p:cNvSpPr/>
            <p:nvPr/>
          </p:nvSpPr>
          <p:spPr>
            <a:xfrm flipH="false" flipV="false" rot="0">
              <a:off x="0" y="0"/>
              <a:ext cx="3493257" cy="562774"/>
            </a:xfrm>
            <a:custGeom>
              <a:avLst/>
              <a:gdLst/>
              <a:ahLst/>
              <a:cxnLst/>
              <a:rect r="r" b="b" t="t" l="l"/>
              <a:pathLst>
                <a:path h="562774" w="3493257">
                  <a:moveTo>
                    <a:pt x="26277" y="0"/>
                  </a:moveTo>
                  <a:lnTo>
                    <a:pt x="3466979" y="0"/>
                  </a:lnTo>
                  <a:cubicBezTo>
                    <a:pt x="3481492" y="0"/>
                    <a:pt x="3493257" y="11765"/>
                    <a:pt x="3493257" y="26277"/>
                  </a:cubicBezTo>
                  <a:lnTo>
                    <a:pt x="3493257" y="536497"/>
                  </a:lnTo>
                  <a:cubicBezTo>
                    <a:pt x="3493257" y="543466"/>
                    <a:pt x="3490488" y="550150"/>
                    <a:pt x="3485560" y="555078"/>
                  </a:cubicBezTo>
                  <a:cubicBezTo>
                    <a:pt x="3480633" y="560006"/>
                    <a:pt x="3473949" y="562774"/>
                    <a:pt x="3466979" y="562774"/>
                  </a:cubicBezTo>
                  <a:lnTo>
                    <a:pt x="26277" y="562774"/>
                  </a:lnTo>
                  <a:cubicBezTo>
                    <a:pt x="19308" y="562774"/>
                    <a:pt x="12624" y="560006"/>
                    <a:pt x="7696" y="555078"/>
                  </a:cubicBezTo>
                  <a:cubicBezTo>
                    <a:pt x="2768" y="550150"/>
                    <a:pt x="0" y="543466"/>
                    <a:pt x="0" y="536497"/>
                  </a:cubicBezTo>
                  <a:lnTo>
                    <a:pt x="0" y="26277"/>
                  </a:lnTo>
                  <a:cubicBezTo>
                    <a:pt x="0" y="19308"/>
                    <a:pt x="2768" y="12624"/>
                    <a:pt x="7696" y="7696"/>
                  </a:cubicBezTo>
                  <a:cubicBezTo>
                    <a:pt x="12624" y="2768"/>
                    <a:pt x="19308" y="0"/>
                    <a:pt x="26277" y="0"/>
                  </a:cubicBezTo>
                  <a:close/>
                </a:path>
              </a:pathLst>
            </a:custGeom>
            <a:solidFill>
              <a:srgbClr val="FFFDF8"/>
            </a:solidFill>
          </p:spPr>
        </p:sp>
        <p:sp>
          <p:nvSpPr>
            <p:cNvPr name="TextBox 13" id="13"/>
            <p:cNvSpPr txBox="true"/>
            <p:nvPr/>
          </p:nvSpPr>
          <p:spPr>
            <a:xfrm>
              <a:off x="0" y="-38100"/>
              <a:ext cx="3493256" cy="600874"/>
            </a:xfrm>
            <a:prstGeom prst="rect">
              <a:avLst/>
            </a:prstGeom>
          </p:spPr>
          <p:txBody>
            <a:bodyPr anchor="ctr" rtlCol="false" tIns="50800" lIns="50800" bIns="50800" rIns="50800"/>
            <a:lstStyle/>
            <a:p>
              <a:pPr algn="ctr">
                <a:lnSpc>
                  <a:spcPts val="3079"/>
                </a:lnSpc>
              </a:pPr>
            </a:p>
          </p:txBody>
        </p:sp>
      </p:grpSp>
      <p:grpSp>
        <p:nvGrpSpPr>
          <p:cNvPr name="Group 14" id="14"/>
          <p:cNvGrpSpPr/>
          <p:nvPr/>
        </p:nvGrpSpPr>
        <p:grpSpPr>
          <a:xfrm rot="0">
            <a:off x="420151" y="2345106"/>
            <a:ext cx="933830" cy="93383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8"/>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4059"/>
                </a:lnSpc>
              </a:pPr>
              <a:r>
                <a:rPr lang="en-US" b="true" sz="2899">
                  <a:solidFill>
                    <a:srgbClr val="5A7377"/>
                  </a:solidFill>
                  <a:latin typeface="Source Serif Pro Bold"/>
                  <a:ea typeface="Source Serif Pro Bold"/>
                  <a:cs typeface="Source Serif Pro Bold"/>
                  <a:sym typeface="Source Serif Pro Bold"/>
                </a:rPr>
                <a:t>1.</a:t>
              </a:r>
            </a:p>
          </p:txBody>
        </p:sp>
      </p:grpSp>
      <p:grpSp>
        <p:nvGrpSpPr>
          <p:cNvPr name="Group 17" id="17"/>
          <p:cNvGrpSpPr/>
          <p:nvPr/>
        </p:nvGrpSpPr>
        <p:grpSpPr>
          <a:xfrm rot="0">
            <a:off x="367142" y="4412604"/>
            <a:ext cx="1039847" cy="933830"/>
            <a:chOff x="0" y="0"/>
            <a:chExt cx="905077" cy="812800"/>
          </a:xfrm>
        </p:grpSpPr>
        <p:sp>
          <p:nvSpPr>
            <p:cNvPr name="Freeform 18" id="18"/>
            <p:cNvSpPr/>
            <p:nvPr/>
          </p:nvSpPr>
          <p:spPr>
            <a:xfrm flipH="false" flipV="false" rot="0">
              <a:off x="0" y="0"/>
              <a:ext cx="905077" cy="812800"/>
            </a:xfrm>
            <a:custGeom>
              <a:avLst/>
              <a:gdLst/>
              <a:ahLst/>
              <a:cxnLst/>
              <a:rect r="r" b="b" t="t" l="l"/>
              <a:pathLst>
                <a:path h="812800" w="905077">
                  <a:moveTo>
                    <a:pt x="452539" y="0"/>
                  </a:moveTo>
                  <a:cubicBezTo>
                    <a:pt x="202608" y="0"/>
                    <a:pt x="0" y="181951"/>
                    <a:pt x="0" y="406400"/>
                  </a:cubicBezTo>
                  <a:cubicBezTo>
                    <a:pt x="0" y="630849"/>
                    <a:pt x="202608" y="812800"/>
                    <a:pt x="452539" y="812800"/>
                  </a:cubicBezTo>
                  <a:cubicBezTo>
                    <a:pt x="702469" y="812800"/>
                    <a:pt x="905077" y="630849"/>
                    <a:pt x="905077" y="406400"/>
                  </a:cubicBezTo>
                  <a:cubicBezTo>
                    <a:pt x="905077" y="181951"/>
                    <a:pt x="702469" y="0"/>
                    <a:pt x="452539" y="0"/>
                  </a:cubicBezTo>
                  <a:close/>
                </a:path>
              </a:pathLst>
            </a:custGeom>
            <a:solidFill>
              <a:srgbClr val="FFFDF8"/>
            </a:solidFill>
          </p:spPr>
        </p:sp>
        <p:sp>
          <p:nvSpPr>
            <p:cNvPr name="TextBox 19" id="19"/>
            <p:cNvSpPr txBox="true"/>
            <p:nvPr/>
          </p:nvSpPr>
          <p:spPr>
            <a:xfrm>
              <a:off x="84851" y="19050"/>
              <a:ext cx="735375" cy="717550"/>
            </a:xfrm>
            <a:prstGeom prst="rect">
              <a:avLst/>
            </a:prstGeom>
          </p:spPr>
          <p:txBody>
            <a:bodyPr anchor="ctr" rtlCol="false" tIns="50800" lIns="50800" bIns="50800" rIns="50800"/>
            <a:lstStyle/>
            <a:p>
              <a:pPr algn="ctr">
                <a:lnSpc>
                  <a:spcPts val="4059"/>
                </a:lnSpc>
              </a:pPr>
              <a:r>
                <a:rPr lang="en-US" b="true" sz="2899">
                  <a:solidFill>
                    <a:srgbClr val="5A7377"/>
                  </a:solidFill>
                  <a:latin typeface="Source Serif Pro Bold"/>
                  <a:ea typeface="Source Serif Pro Bold"/>
                  <a:cs typeface="Source Serif Pro Bold"/>
                  <a:sym typeface="Source Serif Pro Bold"/>
                </a:rPr>
                <a:t>2.</a:t>
              </a:r>
            </a:p>
          </p:txBody>
        </p:sp>
      </p:grpSp>
      <p:grpSp>
        <p:nvGrpSpPr>
          <p:cNvPr name="Group 20" id="20"/>
          <p:cNvGrpSpPr/>
          <p:nvPr/>
        </p:nvGrpSpPr>
        <p:grpSpPr>
          <a:xfrm rot="0">
            <a:off x="367142" y="7190451"/>
            <a:ext cx="933830" cy="93383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8"/>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4059"/>
                </a:lnSpc>
              </a:pPr>
              <a:r>
                <a:rPr lang="en-US" b="true" sz="2899">
                  <a:solidFill>
                    <a:srgbClr val="5A7377"/>
                  </a:solidFill>
                  <a:latin typeface="Source Serif Pro Bold"/>
                  <a:ea typeface="Source Serif Pro Bold"/>
                  <a:cs typeface="Source Serif Pro Bold"/>
                  <a:sym typeface="Source Serif Pro Bold"/>
                </a:rPr>
                <a:t>3.</a:t>
              </a:r>
            </a:p>
          </p:txBody>
        </p:sp>
      </p:grpSp>
      <p:sp>
        <p:nvSpPr>
          <p:cNvPr name="Freeform 23" id="23"/>
          <p:cNvSpPr/>
          <p:nvPr/>
        </p:nvSpPr>
        <p:spPr>
          <a:xfrm flipH="false" flipV="false" rot="0">
            <a:off x="16266293" y="8755497"/>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2"/>
            <a:stretch>
              <a:fillRect l="0" t="0" r="0" b="0"/>
            </a:stretch>
          </a:blipFill>
        </p:spPr>
      </p:sp>
      <p:sp>
        <p:nvSpPr>
          <p:cNvPr name="TextBox 24" id="24"/>
          <p:cNvSpPr txBox="true"/>
          <p:nvPr/>
        </p:nvSpPr>
        <p:spPr>
          <a:xfrm rot="0">
            <a:off x="16642357" y="9750254"/>
            <a:ext cx="1233886" cy="701675"/>
          </a:xfrm>
          <a:prstGeom prst="rect">
            <a:avLst/>
          </a:prstGeom>
        </p:spPr>
        <p:txBody>
          <a:bodyPr anchor="t" rtlCol="false" tIns="0" lIns="0" bIns="0" rIns="0">
            <a:spAutoFit/>
          </a:bodyPr>
          <a:lstStyle/>
          <a:p>
            <a:pPr algn="r">
              <a:lnSpc>
                <a:spcPts val="2800"/>
              </a:lnSpc>
            </a:pPr>
            <a:r>
              <a:rPr lang="en-US" sz="2000">
                <a:solidFill>
                  <a:srgbClr val="FFFDF8"/>
                </a:solidFill>
                <a:latin typeface="Source Serif Pro"/>
                <a:ea typeface="Source Serif Pro"/>
                <a:cs typeface="Source Serif Pro"/>
                <a:sym typeface="Source Serif Pro"/>
              </a:rPr>
              <a:t>26</a:t>
            </a:r>
          </a:p>
          <a:p>
            <a:pPr algn="r">
              <a:lnSpc>
                <a:spcPts val="2800"/>
              </a:lnSpc>
              <a:spcBef>
                <a:spcPct val="0"/>
              </a:spcBef>
            </a:pPr>
          </a:p>
        </p:txBody>
      </p:sp>
      <p:sp>
        <p:nvSpPr>
          <p:cNvPr name="TextBox 25" id="25"/>
          <p:cNvSpPr txBox="true"/>
          <p:nvPr/>
        </p:nvSpPr>
        <p:spPr>
          <a:xfrm rot="0">
            <a:off x="1934061" y="2148081"/>
            <a:ext cx="14332232" cy="1389474"/>
          </a:xfrm>
          <a:prstGeom prst="rect">
            <a:avLst/>
          </a:prstGeom>
        </p:spPr>
        <p:txBody>
          <a:bodyPr anchor="t" rtlCol="false" tIns="0" lIns="0" bIns="0" rIns="0">
            <a:spAutoFit/>
          </a:bodyPr>
          <a:lstStyle/>
          <a:p>
            <a:pPr algn="just">
              <a:lnSpc>
                <a:spcPts val="3739"/>
              </a:lnSpc>
            </a:pPr>
            <a:r>
              <a:rPr lang="en-US" sz="2671">
                <a:solidFill>
                  <a:srgbClr val="5A7377"/>
                </a:solidFill>
                <a:latin typeface="Source Serif Pro"/>
                <a:ea typeface="Source Serif Pro"/>
                <a:cs typeface="Source Serif Pro"/>
                <a:sym typeface="Source Serif Pro"/>
              </a:rPr>
              <a:t>El prototipo diseñado demostró ser plenamente funcional para reproducir la dinámica acoplada del sistema bajo estudio, destacando además por su alta replicabilidad, bajo costo de manufactura y simplicidad estructural.</a:t>
            </a:r>
          </a:p>
        </p:txBody>
      </p:sp>
      <p:sp>
        <p:nvSpPr>
          <p:cNvPr name="TextBox 26" id="26"/>
          <p:cNvSpPr txBox="true"/>
          <p:nvPr/>
        </p:nvSpPr>
        <p:spPr>
          <a:xfrm rot="0">
            <a:off x="1998443" y="4355454"/>
            <a:ext cx="14267850" cy="1856232"/>
          </a:xfrm>
          <a:prstGeom prst="rect">
            <a:avLst/>
          </a:prstGeom>
        </p:spPr>
        <p:txBody>
          <a:bodyPr anchor="t" rtlCol="false" tIns="0" lIns="0" bIns="0" rIns="0">
            <a:spAutoFit/>
          </a:bodyPr>
          <a:lstStyle/>
          <a:p>
            <a:pPr algn="just">
              <a:lnSpc>
                <a:spcPts val="3737"/>
              </a:lnSpc>
            </a:pPr>
            <a:r>
              <a:rPr lang="en-US" sz="2669">
                <a:solidFill>
                  <a:srgbClr val="5A7377"/>
                </a:solidFill>
                <a:latin typeface="Source Serif Pro"/>
                <a:ea typeface="Source Serif Pro"/>
                <a:cs typeface="Source Serif Pro"/>
                <a:sym typeface="Source Serif Pro"/>
              </a:rPr>
              <a:t>La respuesta dinámica del péndulo, analizada desde el marco de referencia no inercial, validó satisfactoriamente el marco teórico de las tres aceleraciones. El ajuste numérico de los datos experimentales demostró que las oscilaciones depende directamente de la aceleración generada.</a:t>
            </a:r>
          </a:p>
        </p:txBody>
      </p:sp>
      <p:sp>
        <p:nvSpPr>
          <p:cNvPr name="TextBox 27" id="27"/>
          <p:cNvSpPr txBox="true"/>
          <p:nvPr/>
        </p:nvSpPr>
        <p:spPr>
          <a:xfrm rot="0">
            <a:off x="1975881" y="7279664"/>
            <a:ext cx="14290412" cy="1856232"/>
          </a:xfrm>
          <a:prstGeom prst="rect">
            <a:avLst/>
          </a:prstGeom>
        </p:spPr>
        <p:txBody>
          <a:bodyPr anchor="t" rtlCol="false" tIns="0" lIns="0" bIns="0" rIns="0">
            <a:spAutoFit/>
          </a:bodyPr>
          <a:lstStyle/>
          <a:p>
            <a:pPr algn="just">
              <a:lnSpc>
                <a:spcPts val="3737"/>
              </a:lnSpc>
            </a:pPr>
            <a:r>
              <a:rPr lang="en-US" sz="2669">
                <a:solidFill>
                  <a:srgbClr val="5A7377"/>
                </a:solidFill>
                <a:latin typeface="Source Serif Pro"/>
                <a:ea typeface="Source Serif Pro"/>
                <a:cs typeface="Source Serif Pro"/>
                <a:sym typeface="Source Serif Pro"/>
              </a:rPr>
              <a:t>Al observar el movimiento desde el laboratorio, el péndulo siguió la tendencia general esperada, pero los datos no coincidieron de forma exacta con los valores teóricos. Esta diferencia demuestra que el análisis desde afuera es mucho más sensible a las pérdidas de energía por fricción y a las pequeñas variaciones del experimento.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4A5759"/>
        </a:solidFill>
      </p:bgPr>
    </p:bg>
    <p:spTree>
      <p:nvGrpSpPr>
        <p:cNvPr id="1" name=""/>
        <p:cNvGrpSpPr/>
        <p:nvPr/>
      </p:nvGrpSpPr>
      <p:grpSpPr>
        <a:xfrm>
          <a:off x="0" y="0"/>
          <a:ext cx="0" cy="0"/>
          <a:chOff x="0" y="0"/>
          <a:chExt cx="0" cy="0"/>
        </a:xfrm>
      </p:grpSpPr>
      <p:sp>
        <p:nvSpPr>
          <p:cNvPr name="Freeform 2" id="2"/>
          <p:cNvSpPr/>
          <p:nvPr/>
        </p:nvSpPr>
        <p:spPr>
          <a:xfrm flipH="false" flipV="false" rot="0">
            <a:off x="7941273" y="1028700"/>
            <a:ext cx="9318027" cy="4466124"/>
          </a:xfrm>
          <a:custGeom>
            <a:avLst/>
            <a:gdLst/>
            <a:ahLst/>
            <a:cxnLst/>
            <a:rect r="r" b="b" t="t" l="l"/>
            <a:pathLst>
              <a:path h="4466124" w="9318027">
                <a:moveTo>
                  <a:pt x="0" y="0"/>
                </a:moveTo>
                <a:lnTo>
                  <a:pt x="9318027" y="0"/>
                </a:lnTo>
                <a:lnTo>
                  <a:pt x="9318027" y="4466124"/>
                </a:lnTo>
                <a:lnTo>
                  <a:pt x="0" y="4466124"/>
                </a:lnTo>
                <a:lnTo>
                  <a:pt x="0" y="0"/>
                </a:lnTo>
                <a:close/>
              </a:path>
            </a:pathLst>
          </a:custGeom>
          <a:blipFill>
            <a:blip r:embed="rId2"/>
            <a:stretch>
              <a:fillRect l="0" t="0" r="-1443" b="0"/>
            </a:stretch>
          </a:blipFill>
        </p:spPr>
      </p:sp>
      <p:sp>
        <p:nvSpPr>
          <p:cNvPr name="TextBox 3" id="3"/>
          <p:cNvSpPr txBox="true"/>
          <p:nvPr/>
        </p:nvSpPr>
        <p:spPr>
          <a:xfrm rot="0">
            <a:off x="1028700" y="6746789"/>
            <a:ext cx="12525087" cy="1091565"/>
          </a:xfrm>
          <a:prstGeom prst="rect">
            <a:avLst/>
          </a:prstGeom>
        </p:spPr>
        <p:txBody>
          <a:bodyPr anchor="t" rtlCol="false" tIns="0" lIns="0" bIns="0" rIns="0">
            <a:spAutoFit/>
          </a:bodyPr>
          <a:lstStyle/>
          <a:p>
            <a:pPr algn="l">
              <a:lnSpc>
                <a:spcPts val="7830"/>
              </a:lnSpc>
            </a:pPr>
            <a:r>
              <a:rPr lang="en-US" sz="9000">
                <a:solidFill>
                  <a:srgbClr val="FFFDF8"/>
                </a:solidFill>
                <a:latin typeface="Yeseva One"/>
                <a:ea typeface="Yeseva One"/>
                <a:cs typeface="Yeseva One"/>
                <a:sym typeface="Yeseva One"/>
              </a:rPr>
              <a:t>Muchas Gracias</a:t>
            </a:r>
          </a:p>
        </p:txBody>
      </p:sp>
      <p:sp>
        <p:nvSpPr>
          <p:cNvPr name="Freeform 4" id="4"/>
          <p:cNvSpPr/>
          <p:nvPr/>
        </p:nvSpPr>
        <p:spPr>
          <a:xfrm flipH="false" flipV="false" rot="0">
            <a:off x="15808668" y="8360560"/>
            <a:ext cx="1986014" cy="973147"/>
          </a:xfrm>
          <a:custGeom>
            <a:avLst/>
            <a:gdLst/>
            <a:ahLst/>
            <a:cxnLst/>
            <a:rect r="r" b="b" t="t" l="l"/>
            <a:pathLst>
              <a:path h="973147" w="1986014">
                <a:moveTo>
                  <a:pt x="0" y="0"/>
                </a:moveTo>
                <a:lnTo>
                  <a:pt x="1986014" y="0"/>
                </a:lnTo>
                <a:lnTo>
                  <a:pt x="1986014" y="973147"/>
                </a:lnTo>
                <a:lnTo>
                  <a:pt x="0" y="973147"/>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DAHDAkFll7o</dc:identifier>
  <dcterms:modified xsi:type="dcterms:W3CDTF">2011-08-01T06:04:30Z</dcterms:modified>
  <cp:revision>1</cp:revision>
  <dc:title>Slides Avances Retos Científicos</dc:title>
</cp:coreProperties>
</file>